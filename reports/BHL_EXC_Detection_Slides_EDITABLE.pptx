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8c6a7389fb946b9" /><Relationship Type="http://schemas.openxmlformats.org/officeDocument/2006/relationships/extended-properties" Target="/docProps/app.xml" Id="R43ad47b1c7e44827" /><Relationship Type="http://schemas.openxmlformats.org/officeDocument/2006/relationships/officeDocument" Target="/ppt/presentation.xml" Id="Re38bd4575a444764" /></Relationships>
</file>

<file path=ppt/presentation.xml><?xml version="1.0" encoding="utf-8"?>
<p:presentation xmlns:p="http://schemas.openxmlformats.org/presentationml/2006/main">
  <p:sldMasterIdLst>
    <p:sldMasterId xmlns:r="http://schemas.openxmlformats.org/officeDocument/2006/relationships" id="2147483648" r:id="Rdf41a97284484854"/>
  </p:sldMasterIdLst>
  <p:notesMasterIdLst>
    <p:notesMasterId xmlns:r="http://schemas.openxmlformats.org/officeDocument/2006/relationships" r:id="R442388f378124b8e"/>
  </p:notesMasterIdLst>
  <p:sldIdLst>
    <p:sldId xmlns:r="http://schemas.openxmlformats.org/officeDocument/2006/relationships" id="256" r:id="R00c31eeafa164add"/>
    <p:sldId xmlns:r="http://schemas.openxmlformats.org/officeDocument/2006/relationships" id="257" r:id="R09cfa2059626406d"/>
    <p:sldId xmlns:r="http://schemas.openxmlformats.org/officeDocument/2006/relationships" id="258" r:id="R8fde55af411f4a9e"/>
    <p:sldId xmlns:r="http://schemas.openxmlformats.org/officeDocument/2006/relationships" id="259" r:id="Rfaded64065194dfe"/>
    <p:sldId xmlns:r="http://schemas.openxmlformats.org/officeDocument/2006/relationships" id="260" r:id="R5f88cf011bb94e47"/>
    <p:sldId xmlns:r="http://schemas.openxmlformats.org/officeDocument/2006/relationships" id="261" r:id="Re99e497d41c741b7"/>
    <p:sldId xmlns:r="http://schemas.openxmlformats.org/officeDocument/2006/relationships" id="262" r:id="Rcae9ad97fccd430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b2ac0a86f140ed" /><Relationship Type="http://schemas.openxmlformats.org/officeDocument/2006/relationships/slideMaster" Target="/ppt/slideMasters/slideMaster1.xml" Id="Rdf41a97284484854" /><Relationship Type="http://schemas.openxmlformats.org/officeDocument/2006/relationships/notesMaster" Target="/ppt/notesMasters/notesMaster1.xml" Id="R442388f378124b8e" /><Relationship Type="http://schemas.openxmlformats.org/officeDocument/2006/relationships/presProps" Target="/ppt/presProps.xml" Id="Rd0ecb59253b2449f" /><Relationship Type="http://schemas.openxmlformats.org/officeDocument/2006/relationships/tableStyles" Target="/ppt/tableStyles.xml" Id="R95680700a5914a26" /><Relationship Type="http://schemas.openxmlformats.org/officeDocument/2006/relationships/slide" Target="/ppt/slides/slide1.xml" Id="R00c31eeafa164add" /><Relationship Type="http://schemas.openxmlformats.org/officeDocument/2006/relationships/slide" Target="/ppt/slides/slide2.xml" Id="R09cfa2059626406d" /><Relationship Type="http://schemas.openxmlformats.org/officeDocument/2006/relationships/slide" Target="/ppt/slides/slide3.xml" Id="R8fde55af411f4a9e" /><Relationship Type="http://schemas.openxmlformats.org/officeDocument/2006/relationships/slide" Target="/ppt/slides/slide4.xml" Id="Rfaded64065194dfe" /><Relationship Type="http://schemas.openxmlformats.org/officeDocument/2006/relationships/slide" Target="/ppt/slides/slide5.xml" Id="R5f88cf011bb94e47" /><Relationship Type="http://schemas.openxmlformats.org/officeDocument/2006/relationships/slide" Target="/ppt/slides/slide6.xml" Id="Re99e497d41c741b7" /><Relationship Type="http://schemas.openxmlformats.org/officeDocument/2006/relationships/slide" Target="/ppt/slides/slide7.xml" Id="Rcae9ad97fccd430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c3fd92b44f42e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97ec08cbfec477d" /><Relationship Type="http://schemas.openxmlformats.org/officeDocument/2006/relationships/notesMaster" Target="/ppt/notesMasters/notesMaster1.xml" Id="R98ccceb282a540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0c64de7cc1472c" /><Relationship Type="http://schemas.openxmlformats.org/officeDocument/2006/relationships/notesMaster" Target="/ppt/notesMasters/notesMaster1.xml" Id="R46acce31c03f468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543123474440e3" /><Relationship Type="http://schemas.openxmlformats.org/officeDocument/2006/relationships/notesMaster" Target="/ppt/notesMasters/notesMaster1.xml" Id="Raafa5a008f81489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95514f343d94232" /><Relationship Type="http://schemas.openxmlformats.org/officeDocument/2006/relationships/notesMaster" Target="/ppt/notesMasters/notesMaster1.xml" Id="R81f8ce79bc9445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02336075484414" /><Relationship Type="http://schemas.openxmlformats.org/officeDocument/2006/relationships/notesMaster" Target="/ppt/notesMasters/notesMaster1.xml" Id="R7b39180bebb7436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f0a66e685094617" /><Relationship Type="http://schemas.openxmlformats.org/officeDocument/2006/relationships/notesMaster" Target="/ppt/notesMasters/notesMaster1.xml" Id="Rc7ca3d6321f94c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366633cfde94d87" /><Relationship Type="http://schemas.openxmlformats.org/officeDocument/2006/relationships/notesMaster" Target="/ppt/notesMasters/notesMaster1.xml" Id="R488c0d6fcaa341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projects: https://universe.roboflow.com/datacluster-labs-agryi/excavator-construction-vehicle and https://universe.roboflow.com/mohamed-sabek-6zmr6/excavators-cwlh0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afe9025c4984e5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673e5879f24d09" /><Relationship Type="http://schemas.openxmlformats.org/officeDocument/2006/relationships/slideLayout" Target="/ppt/slideLayouts/slideLayout1.xml" Id="R6b1597a99eda44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1597a99eda44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2712dd4cb554d86" /><Relationship Type="http://schemas.openxmlformats.org/officeDocument/2006/relationships/image" Target="/ppt/media/image.jpeg" Id="R3f9569b4d7554a38" /><Relationship Type="http://schemas.openxmlformats.org/officeDocument/2006/relationships/image" Target="/ppt/media/image.png" Id="Rd4a5fe4b06da4303" /><Relationship Type="http://schemas.openxmlformats.org/officeDocument/2006/relationships/notesSlide" Target="/ppt/notesSlides/notesSlide1.xml" Id="Rc7852ec8b81049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755e5109420499f" /><Relationship Type="http://schemas.openxmlformats.org/officeDocument/2006/relationships/notesSlide" Target="/ppt/notesSlides/notesSlide2.xml" Id="R1a8b21dc08b64e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1b8527a32a444b5" /><Relationship Type="http://schemas.openxmlformats.org/officeDocument/2006/relationships/image" Target="/ppt/media/image2.png" Id="R62db58e6e17d4840" /><Relationship Type="http://schemas.openxmlformats.org/officeDocument/2006/relationships/notesSlide" Target="/ppt/notesSlides/notesSlide3.xml" Id="R0ec960a3588f41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4830cab2468410d" /><Relationship Type="http://schemas.openxmlformats.org/officeDocument/2006/relationships/image" Target="/ppt/media/image3.png" Id="R8d9b8ab2b35f484a" /><Relationship Type="http://schemas.openxmlformats.org/officeDocument/2006/relationships/notesSlide" Target="/ppt/notesSlides/notesSlide4.xml" Id="Ra9c022ccdd6e45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e04b5282e0e465c" /><Relationship Type="http://schemas.openxmlformats.org/officeDocument/2006/relationships/image" Target="/ppt/media/image4.png" Id="Rbab012b3093d4375" /><Relationship Type="http://schemas.openxmlformats.org/officeDocument/2006/relationships/image" Target="/ppt/media/image5.png" Id="R3080c3522e754c08" /><Relationship Type="http://schemas.openxmlformats.org/officeDocument/2006/relationships/image" Target="/ppt/media/image6.png" Id="R75b2b86ebe684988" /><Relationship Type="http://schemas.openxmlformats.org/officeDocument/2006/relationships/image" Target="/ppt/media/image7.png" Id="R490d266923f144a4" /><Relationship Type="http://schemas.openxmlformats.org/officeDocument/2006/relationships/image" Target="/ppt/media/image8.png" Id="R6adcdaa268ac473b" /><Relationship Type="http://schemas.openxmlformats.org/officeDocument/2006/relationships/image" Target="/ppt/media/image9.png" Id="Re743f9a968d24b33" /><Relationship Type="http://schemas.openxmlformats.org/officeDocument/2006/relationships/notesSlide" Target="/ppt/notesSlides/notesSlide5.xml" Id="R65d0640fbe4b4a4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7a34189455740a8" /><Relationship Type="http://schemas.openxmlformats.org/officeDocument/2006/relationships/image" Target="/ppt/media/image10.png" Id="Rff2f9365094a45f7" /><Relationship Type="http://schemas.openxmlformats.org/officeDocument/2006/relationships/notesSlide" Target="/ppt/notesSlides/notesSlide6.xml" Id="Rbd192f55ea7145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5e26a5842c54e48" /><Relationship Type="http://schemas.openxmlformats.org/officeDocument/2006/relationships/hyperlink" Target="https://github.com/Asiya0555/Backhoe-Excavator-Site-Detection" TargetMode="External" Id="R1c06b3c5e6b948bf" /><Relationship Type="http://schemas.openxmlformats.org/officeDocument/2006/relationships/notesSlide" Target="/ppt/notesSlides/notesSlide7.xml" Id="Rfebca3aa87af4c6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A2ED7F3-FB6D-4801-AAFC-61BFA41A0E6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959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2B5FE58-7953-4A88-8414-192C854C44C7}"/>
              </a:ext>
            </a:extLst>
          </p:cNvPr>
          <p:cNvSpPr>
            <a:spLocks xmlns:a="http://schemas.openxmlformats.org/drawingml/2006/main" noGrp="1"/>
          </p:cNvSpPr>
          <p:nvPr/>
        </p:nvSpPr>
        <p:spPr>
          <a:xfrm xmlns:a="http://schemas.openxmlformats.org/drawingml/2006/main">
            <a:off x="558800" y="482600"/>
            <a:ext cx="51435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00" b="1">
                <a:solidFill>
                  <a:srgbClr val="1959F2"/>
                </a:solidFill>
                <a:latin typeface="DejaVu Sans"/>
                <a:ea typeface="DejaVu Sans"/>
                <a:cs typeface="DejaVu Sans"/>
              </a:defRPr>
            </a:pPr>
            <a:r>
              <a:rPr sz="1100" b="1">
                <a:solidFill>
                  <a:srgbClr val="1959F2"/>
                </a:solidFill>
                <a:latin typeface="DejaVu Sans"/>
                <a:ea typeface="DejaVu Sans"/>
                <a:cs typeface="DejaVu Sans"/>
              </a:rPr>
              <a:t>M4U3 COMPUTER VISION</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f9569b4d7554a38"/>
          <a:stretch xmlns:a="http://schemas.openxmlformats.org/drawingml/2006/main"/>
        </p:blipFill>
        <p:spPr>
          <a:xfrm xmlns:a="http://schemas.openxmlformats.org/drawingml/2006/main">
            <a:off x="9207500" y="461610"/>
            <a:ext cx="2413000" cy="67698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EC3B210-1131-43D2-967E-E28EFE2384A9}"/>
              </a:ext>
            </a:extLst>
          </p:cNvPr>
          <p:cNvSpPr>
            <a:spLocks xmlns:a="http://schemas.openxmlformats.org/drawingml/2006/main" noGrp="1"/>
          </p:cNvSpPr>
          <p:nvPr/>
        </p:nvSpPr>
        <p:spPr>
          <a:xfrm xmlns:a="http://schemas.openxmlformats.org/drawingml/2006/main">
            <a:off x="558800" y="1155700"/>
            <a:ext cx="10223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00" b="1">
                <a:solidFill>
                  <a:srgbClr val="232B36"/>
                </a:solidFill>
                <a:latin typeface="DejaVu Sans"/>
                <a:ea typeface="DejaVu Sans"/>
                <a:cs typeface="DejaVu Sans"/>
              </a:defRPr>
            </a:pPr>
            <a:r>
              <a:rPr sz="2700" b="1">
                <a:solidFill>
                  <a:srgbClr val="232B36"/>
                </a:solidFill>
                <a:latin typeface="DejaVu Sans"/>
                <a:ea typeface="DejaVu Sans"/>
                <a:cs typeface="DejaVu Sans"/>
              </a:rPr>
              <a:t>Backhoe Loader and Excavator Detection</a:t>
            </a:r>
          </a:p>
          <a:p xmlns:a="http://schemas.openxmlformats.org/drawingml/2006/main">
            <a:pPr>
              <a:defRPr sz="2700" b="1">
                <a:solidFill>
                  <a:srgbClr val="232B36"/>
                </a:solidFill>
                <a:latin typeface="DejaVu Sans"/>
                <a:ea typeface="DejaVu Sans"/>
                <a:cs typeface="DejaVu Sans"/>
              </a:defRPr>
            </a:pPr>
            <a:r>
              <a:rPr sz="2700" b="1">
                <a:solidFill>
                  <a:srgbClr val="232B36"/>
                </a:solidFill>
                <a:latin typeface="DejaVu Sans"/>
                <a:ea typeface="DejaVu Sans"/>
                <a:cs typeface="DejaVu Sans"/>
              </a:rPr>
              <a:t>in Construction Images</a:t>
            </a:r>
          </a:p>
        </p:txBody>
      </p:sp>
      <p:sp>
        <p:nvSpPr>
          <p:cNvPr id="5" name="">
            <a:extLst xmlns:a="http://schemas.openxmlformats.org/drawingml/2006/main">
              <a:ext uri="{FF2B5EF4-FFF2-40B4-BE49-F238E27FC236}">
                <a16:creationId xmlns:a16="http://schemas.microsoft.com/office/drawing/2014/main" id="{8313D672-4CA0-4595-A877-E5D09786A6AA}"/>
              </a:ext>
            </a:extLst>
          </p:cNvPr>
          <p:cNvSpPr>
            <a:spLocks xmlns:a="http://schemas.openxmlformats.org/drawingml/2006/main" noGrp="1"/>
          </p:cNvSpPr>
          <p:nvPr/>
        </p:nvSpPr>
        <p:spPr>
          <a:xfrm xmlns:a="http://schemas.openxmlformats.org/drawingml/2006/main">
            <a:off x="558800" y="2311400"/>
            <a:ext cx="106045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00" b="0">
                <a:solidFill>
                  <a:srgbClr val="596778"/>
                </a:solidFill>
                <a:latin typeface="DejaVu Sans"/>
                <a:ea typeface="DejaVu Sans"/>
                <a:cs typeface="DejaVu Sans"/>
              </a:defRPr>
            </a:pPr>
            <a:r>
              <a:rPr sz="1100" b="0">
                <a:solidFill>
                  <a:srgbClr val="596778"/>
                </a:solidFill>
                <a:latin typeface="DejaVu Sans"/>
                <a:ea typeface="DejaVu Sans"/>
                <a:cs typeface="DejaVu Sans"/>
              </a:rPr>
              <a:t>Asiya Begum  |  Submitted to Pablo Aumente Gallego  |  27 September 2026</a:t>
            </a:r>
          </a:p>
        </p:txBody>
      </p:sp>
      <p:sp>
        <p:nvSpPr>
          <p:cNvPr id="6" name="">
            <a:extLst xmlns:a="http://schemas.openxmlformats.org/drawingml/2006/main">
              <a:ext uri="{FF2B5EF4-FFF2-40B4-BE49-F238E27FC236}">
                <a16:creationId xmlns:a16="http://schemas.microsoft.com/office/drawing/2014/main" id="{4B705A64-F89B-4A59-9BF4-354C6B463AAD}"/>
              </a:ext>
            </a:extLst>
          </p:cNvPr>
          <p:cNvSpPr>
            <a:spLocks xmlns:a="http://schemas.openxmlformats.org/drawingml/2006/main" noGrp="1"/>
          </p:cNvSpPr>
          <p:nvPr/>
        </p:nvSpPr>
        <p:spPr>
          <a:xfrm xmlns:a="http://schemas.openxmlformats.org/drawingml/2006/main">
            <a:off x="558800" y="2794000"/>
            <a:ext cx="6375400" cy="2603500"/>
          </a:xfrm>
          <a:prstGeom xmlns:a="http://schemas.openxmlformats.org/drawingml/2006/main" prst="roundRect">
            <a:avLst>
              <a:gd name="adj" fmla="val 5854"/>
            </a:avLst>
          </a:prstGeom>
          <a:solidFill xmlns:a="http://schemas.openxmlformats.org/drawingml/2006/main">
            <a:srgbClr val="EDF3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B40B11A-39BA-4ED7-BE9C-E167F69C4DB4}"/>
              </a:ext>
            </a:extLst>
          </p:cNvPr>
          <p:cNvSpPr>
            <a:spLocks xmlns:a="http://schemas.openxmlformats.org/drawingml/2006/main" noGrp="1"/>
          </p:cNvSpPr>
          <p:nvPr/>
        </p:nvSpPr>
        <p:spPr>
          <a:xfrm xmlns:a="http://schemas.openxmlformats.org/drawingml/2006/main">
            <a:off x="774700" y="3086100"/>
            <a:ext cx="5715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00" b="1">
                <a:solidFill>
                  <a:srgbClr val="1959F2"/>
                </a:solidFill>
                <a:latin typeface="DejaVu Sans"/>
                <a:ea typeface="DejaVu Sans"/>
                <a:cs typeface="DejaVu Sans"/>
              </a:defRPr>
            </a:pPr>
            <a:r>
              <a:rPr sz="1000" b="1">
                <a:solidFill>
                  <a:srgbClr val="1959F2"/>
                </a:solidFill>
                <a:latin typeface="DejaVu Sans"/>
                <a:ea typeface="DejaVu Sans"/>
                <a:cs typeface="DejaVu Sans"/>
              </a:rPr>
              <a:t>PROJECT QUESTION</a:t>
            </a:r>
          </a:p>
        </p:txBody>
      </p:sp>
      <p:sp>
        <p:nvSpPr>
          <p:cNvPr id="8" name="">
            <a:extLst xmlns:a="http://schemas.openxmlformats.org/drawingml/2006/main">
              <a:ext uri="{FF2B5EF4-FFF2-40B4-BE49-F238E27FC236}">
                <a16:creationId xmlns:a16="http://schemas.microsoft.com/office/drawing/2014/main" id="{AEBEC066-1F73-44D6-A772-8652D096513E}"/>
              </a:ext>
            </a:extLst>
          </p:cNvPr>
          <p:cNvSpPr>
            <a:spLocks xmlns:a="http://schemas.openxmlformats.org/drawingml/2006/main" noGrp="1"/>
          </p:cNvSpPr>
          <p:nvPr/>
        </p:nvSpPr>
        <p:spPr>
          <a:xfrm xmlns:a="http://schemas.openxmlformats.org/drawingml/2006/main">
            <a:off x="774700" y="3479800"/>
            <a:ext cx="5880100" cy="85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232B36"/>
                </a:solidFill>
                <a:latin typeface="DejaVu Sans"/>
                <a:ea typeface="DejaVu Sans"/>
                <a:cs typeface="DejaVu Sans"/>
              </a:defRPr>
            </a:pPr>
            <a:r>
              <a:rPr sz="1800" b="0">
                <a:solidFill>
                  <a:srgbClr val="232B36"/>
                </a:solidFill>
                <a:latin typeface="DejaVu Sans"/>
                <a:ea typeface="DejaVu Sans"/>
                <a:cs typeface="DejaVu Sans"/>
              </a:rPr>
              <a:t>Can a model locate and identify </a:t>
            </a:r>
            <a:r>
              <a:rPr sz="1800" b="1">
                <a:solidFill>
                  <a:srgbClr val="232B36"/>
                </a:solidFill>
                <a:latin typeface="DejaVu Sans"/>
                <a:ea typeface="DejaVu Sans"/>
                <a:cs typeface="DejaVu Sans"/>
              </a:rPr>
              <a:t>backhoe loaders</a:t>
            </a:r>
            <a:r>
              <a:rPr sz="1800" b="0">
                <a:solidFill>
                  <a:srgbClr val="232B36"/>
                </a:solidFill>
                <a:latin typeface="DejaVu Sans"/>
                <a:ea typeface="DejaVu Sans"/>
                <a:cs typeface="DejaVu Sans"/>
              </a:rPr>
              <a:t> and </a:t>
            </a:r>
            <a:r>
              <a:rPr sz="1800" b="1">
                <a:solidFill>
                  <a:srgbClr val="232B36"/>
                </a:solidFill>
                <a:latin typeface="DejaVu Sans"/>
                <a:ea typeface="DejaVu Sans"/>
                <a:cs typeface="DejaVu Sans"/>
              </a:rPr>
              <a:t>excavators</a:t>
            </a:r>
            <a:r>
              <a:rPr sz="1800" b="0">
                <a:solidFill>
                  <a:srgbClr val="232B36"/>
                </a:solidFill>
                <a:latin typeface="DejaVu Sans"/>
                <a:ea typeface="DejaVu Sans"/>
                <a:cs typeface="DejaVu Sans"/>
              </a:rPr>
              <a:t> in construction site photos?</a:t>
            </a:r>
          </a:p>
        </p:txBody>
      </p:sp>
      <p:sp>
        <p:nvSpPr>
          <p:cNvPr id="9" name="">
            <a:extLst xmlns:a="http://schemas.openxmlformats.org/drawingml/2006/main">
              <a:ext uri="{FF2B5EF4-FFF2-40B4-BE49-F238E27FC236}">
                <a16:creationId xmlns:a16="http://schemas.microsoft.com/office/drawing/2014/main" id="{9ED19DC3-4668-46C4-A5CF-CCE33B92A856}"/>
              </a:ext>
            </a:extLst>
          </p:cNvPr>
          <p:cNvSpPr>
            <a:spLocks xmlns:a="http://schemas.openxmlformats.org/drawingml/2006/main" noGrp="1"/>
          </p:cNvSpPr>
          <p:nvPr/>
        </p:nvSpPr>
        <p:spPr>
          <a:xfrm xmlns:a="http://schemas.openxmlformats.org/drawingml/2006/main">
            <a:off x="774700" y="4648200"/>
            <a:ext cx="585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70" b="0">
                <a:solidFill>
                  <a:srgbClr val="596778"/>
                </a:solidFill>
                <a:latin typeface="DejaVu Sans"/>
                <a:ea typeface="DejaVu Sans"/>
                <a:cs typeface="DejaVu Sans"/>
              </a:defRPr>
            </a:pPr>
            <a:r>
              <a:rPr sz="1070" b="0">
                <a:solidFill>
                  <a:srgbClr val="596778"/>
                </a:solidFill>
                <a:latin typeface="DejaVu Sans"/>
                <a:ea typeface="DejaVu Sans"/>
                <a:cs typeface="DejaVu Sans"/>
              </a:rPr>
              <a:t>A supervisor reviewing equipment costs can compare the machine types detected in dated site photos with hire records when checking the equipment cost sheet. Hire duration and use come from those records.</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d4a5fe4b06da4303"/>
          <a:stretch xmlns:a="http://schemas.openxmlformats.org/drawingml/2006/main"/>
        </p:blipFill>
        <p:spPr>
          <a:xfrm xmlns:a="http://schemas.openxmlformats.org/drawingml/2006/main">
            <a:off x="8085492" y="2730500"/>
            <a:ext cx="2625017" cy="26035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7E331A52-F527-49F8-9D8B-7BF30FCBD0E9}"/>
              </a:ext>
            </a:extLst>
          </p:cNvPr>
          <p:cNvSpPr>
            <a:spLocks xmlns:a="http://schemas.openxmlformats.org/drawingml/2006/main" noGrp="1"/>
          </p:cNvSpPr>
          <p:nvPr/>
        </p:nvSpPr>
        <p:spPr>
          <a:xfrm xmlns:a="http://schemas.openxmlformats.org/drawingml/2006/main">
            <a:off x="558800" y="5524500"/>
            <a:ext cx="11074400" cy="546100"/>
          </a:xfrm>
          <a:prstGeom xmlns:a="http://schemas.openxmlformats.org/drawingml/2006/main" prst="roundRect">
            <a:avLst>
              <a:gd name="adj" fmla="val 18605"/>
            </a:avLst>
          </a:prstGeom>
          <a:solidFill xmlns:a="http://schemas.openxmlformats.org/drawingml/2006/main">
            <a:srgbClr val="E9F6F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4F86C65-242A-4BCF-B8AE-2116D2ED9041}"/>
              </a:ext>
            </a:extLst>
          </p:cNvPr>
          <p:cNvSpPr>
            <a:spLocks xmlns:a="http://schemas.openxmlformats.org/drawingml/2006/main" noGrp="1"/>
          </p:cNvSpPr>
          <p:nvPr/>
        </p:nvSpPr>
        <p:spPr>
          <a:xfrm xmlns:a="http://schemas.openxmlformats.org/drawingml/2006/main">
            <a:off x="749300" y="5676900"/>
            <a:ext cx="1073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80" b="0">
                <a:solidFill>
                  <a:srgbClr val="232B36"/>
                </a:solidFill>
                <a:latin typeface="DejaVu Sans"/>
                <a:ea typeface="DejaVu Sans"/>
                <a:cs typeface="DejaVu Sans"/>
              </a:defRPr>
            </a:pPr>
            <a:r>
              <a:rPr sz="1080" b="0">
                <a:solidFill>
                  <a:srgbClr val="232B36"/>
                </a:solidFill>
                <a:latin typeface="DejaVu Sans"/>
                <a:ea typeface="DejaVu Sans"/>
                <a:cs typeface="DejaVu Sans"/>
              </a:rPr>
              <a:t>Evaluation aim: grouped 80/20 split, precision and mAP reporting, plus a provisional recall target of at least 0.70.</a:t>
            </a:r>
          </a:p>
        </p:txBody>
      </p:sp>
      <p:sp>
        <p:nvSpPr>
          <p:cNvPr id="13" name="">
            <a:extLst xmlns:a="http://schemas.openxmlformats.org/drawingml/2006/main">
              <a:ext uri="{FF2B5EF4-FFF2-40B4-BE49-F238E27FC236}">
                <a16:creationId xmlns:a16="http://schemas.microsoft.com/office/drawing/2014/main" id="{3A8248C4-B631-4098-B4C6-1E5E5D2A504E}"/>
              </a:ext>
            </a:extLst>
          </p:cNvPr>
          <p:cNvSpPr>
            <a:spLocks xmlns:a="http://schemas.openxmlformats.org/drawingml/2006/main" noGrp="1"/>
          </p:cNvSpPr>
          <p:nvPr/>
        </p:nvSpPr>
        <p:spPr>
          <a:xfrm xmlns:a="http://schemas.openxmlformats.org/drawingml/2006/main">
            <a:off x="558800" y="6388100"/>
            <a:ext cx="11074400" cy="0"/>
          </a:xfrm>
          <a:prstGeom xmlns:a="http://schemas.openxmlformats.org/drawingml/2006/main" prst="line">
            <a:avLst/>
          </a:prstGeom>
          <a:noFill xmlns:a="http://schemas.openxmlformats.org/drawingml/2006/main"/>
          <a:ln xmlns:a="http://schemas.openxmlformats.org/drawingml/2006/main" w="12700">
            <a:solidFill>
              <a:srgbClr val="DCE4EE"/>
            </a:solidFill>
            <a:prstDash val="solid"/>
          </a:ln>
        </p:spPr>
      </p:sp>
      <p:sp>
        <p:nvSpPr>
          <p:cNvPr id="14" name="">
            <a:extLst xmlns:a="http://schemas.openxmlformats.org/drawingml/2006/main">
              <a:ext uri="{FF2B5EF4-FFF2-40B4-BE49-F238E27FC236}">
                <a16:creationId xmlns:a16="http://schemas.microsoft.com/office/drawing/2014/main" id="{429A2180-3458-4CF0-B58A-61561A0A6624}"/>
              </a:ext>
            </a:extLst>
          </p:cNvPr>
          <p:cNvSpPr>
            <a:spLocks xmlns:a="http://schemas.openxmlformats.org/drawingml/2006/main" noGrp="1"/>
          </p:cNvSpPr>
          <p:nvPr/>
        </p:nvSpPr>
        <p:spPr>
          <a:xfrm xmlns:a="http://schemas.openxmlformats.org/drawingml/2006/main">
            <a:off x="558800" y="6502400"/>
            <a:ext cx="863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50" b="0">
                <a:solidFill>
                  <a:srgbClr val="596778"/>
                </a:solidFill>
                <a:latin typeface="DejaVu Sans"/>
                <a:ea typeface="DejaVu Sans"/>
                <a:cs typeface="DejaVu Sans"/>
              </a:defRPr>
            </a:pPr>
            <a:r>
              <a:rPr sz="850" b="0">
                <a:solidFill>
                  <a:srgbClr val="596778"/>
                </a:solidFill>
                <a:latin typeface="DejaVu Sans"/>
                <a:ea typeface="DejaVu Sans"/>
                <a:cs typeface="DejaVu Sans"/>
              </a:rPr>
              <a:t>ASIYA BEGUM  /  M4U3 COMPUTER VISION</a:t>
            </a:r>
          </a:p>
        </p:txBody>
      </p:sp>
      <p:sp>
        <p:nvSpPr>
          <p:cNvPr id="15" name="">
            <a:extLst xmlns:a="http://schemas.openxmlformats.org/drawingml/2006/main">
              <a:ext uri="{FF2B5EF4-FFF2-40B4-BE49-F238E27FC236}">
                <a16:creationId xmlns:a16="http://schemas.microsoft.com/office/drawing/2014/main" id="{6DDF2981-8863-4916-8B97-7E206AE42E02}"/>
              </a:ext>
            </a:extLst>
          </p:cNvPr>
          <p:cNvSpPr>
            <a:spLocks xmlns:a="http://schemas.openxmlformats.org/drawingml/2006/main" noGrp="1"/>
          </p:cNvSpPr>
          <p:nvPr/>
        </p:nvSpPr>
        <p:spPr>
          <a:xfrm xmlns:a="http://schemas.openxmlformats.org/drawingml/2006/main">
            <a:off x="10985500" y="6502400"/>
            <a:ext cx="647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50" b="0">
                <a:solidFill>
                  <a:srgbClr val="596778"/>
                </a:solidFill>
                <a:latin typeface="DejaVu Sans"/>
                <a:ea typeface="DejaVu Sans"/>
                <a:cs typeface="DejaVu Sans"/>
              </a:defRPr>
            </a:pPr>
            <a:r>
              <a:rPr sz="850" b="0">
                <a:solidFill>
                  <a:srgbClr val="596778"/>
                </a:solidFill>
                <a:latin typeface="DejaVu Sans"/>
                <a:ea typeface="DejaVu Sans"/>
                <a:cs typeface="DejaVu Sans"/>
              </a:rPr>
              <a:t>01 / 07</a:t>
            </a:r>
          </a:p>
        </p:txBody>
      </p:sp>
    </p:spTree>
    <p:extLst>
      <p:ext uri="{BB962C8B-B14F-4D97-AF65-F5344CB8AC3E}">
        <p14:creationId xmlns:p14="http://schemas.microsoft.com/office/powerpoint/2010/main" val="5350414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A652F23D-4553-460A-B5E9-81E17506A96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959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9F4AD5-8B25-4EFC-A1F5-AC1C95A96B8C}"/>
              </a:ext>
            </a:extLst>
          </p:cNvPr>
          <p:cNvSpPr>
            <a:spLocks xmlns:a="http://schemas.openxmlformats.org/drawingml/2006/main" noGrp="1"/>
          </p:cNvSpPr>
          <p:nvPr/>
        </p:nvSpPr>
        <p:spPr>
          <a:xfrm xmlns:a="http://schemas.openxmlformats.org/drawingml/2006/main">
            <a:off x="558800" y="495300"/>
            <a:ext cx="102870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50" b="1">
                <a:solidFill>
                  <a:srgbClr val="1959F2"/>
                </a:solidFill>
                <a:latin typeface="DejaVu Sans"/>
                <a:ea typeface="DejaVu Sans"/>
                <a:cs typeface="DejaVu Sans"/>
              </a:defRPr>
            </a:pPr>
            <a:r>
              <a:rPr sz="950" b="1">
                <a:solidFill>
                  <a:srgbClr val="1959F2"/>
                </a:solidFill>
                <a:latin typeface="DejaVu Sans"/>
                <a:ea typeface="DejaVu Sans"/>
                <a:cs typeface="DejaVu Sans"/>
              </a:rPr>
              <a:t>DATASET AND ANNOTATIONS</a:t>
            </a:r>
          </a:p>
        </p:txBody>
      </p:sp>
      <p:sp>
        <p:nvSpPr>
          <p:cNvPr id="3" name="">
            <a:extLst xmlns:a="http://schemas.openxmlformats.org/drawingml/2006/main">
              <a:ext uri="{FF2B5EF4-FFF2-40B4-BE49-F238E27FC236}">
                <a16:creationId xmlns:a16="http://schemas.microsoft.com/office/drawing/2014/main" id="{BA0E1484-FB5E-4EDA-8764-8F0CCD942CB2}"/>
              </a:ext>
            </a:extLst>
          </p:cNvPr>
          <p:cNvSpPr>
            <a:spLocks xmlns:a="http://schemas.openxmlformats.org/drawingml/2006/main" noGrp="1"/>
          </p:cNvSpPr>
          <p:nvPr/>
        </p:nvSpPr>
        <p:spPr>
          <a:xfrm xmlns:a="http://schemas.openxmlformats.org/drawingml/2006/main">
            <a:off x="558800" y="914400"/>
            <a:ext cx="111125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00" b="1">
                <a:solidFill>
                  <a:srgbClr val="232B36"/>
                </a:solidFill>
                <a:latin typeface="DejaVu Sans"/>
                <a:ea typeface="DejaVu Sans"/>
                <a:cs typeface="DejaVu Sans"/>
              </a:defRPr>
            </a:pPr>
            <a:r>
              <a:rPr sz="2500" b="1">
                <a:solidFill>
                  <a:srgbClr val="232B36"/>
                </a:solidFill>
                <a:latin typeface="DejaVu Sans"/>
                <a:ea typeface="DejaVu Sans"/>
                <a:cs typeface="DejaVu Sans"/>
              </a:rPr>
              <a:t>Dataset cloning and annotation review</a:t>
            </a:r>
          </a:p>
        </p:txBody>
      </p:sp>
      <p:sp>
        <p:nvSpPr>
          <p:cNvPr id="4" name="">
            <a:extLst xmlns:a="http://schemas.openxmlformats.org/drawingml/2006/main">
              <a:ext uri="{FF2B5EF4-FFF2-40B4-BE49-F238E27FC236}">
                <a16:creationId xmlns:a16="http://schemas.microsoft.com/office/drawing/2014/main" id="{0AAD25ED-6850-430E-A866-85A18097DB56}"/>
              </a:ext>
            </a:extLst>
          </p:cNvPr>
          <p:cNvSpPr>
            <a:spLocks xmlns:a="http://schemas.openxmlformats.org/drawingml/2006/main" noGrp="1"/>
          </p:cNvSpPr>
          <p:nvPr/>
        </p:nvSpPr>
        <p:spPr>
          <a:xfrm xmlns:a="http://schemas.openxmlformats.org/drawingml/2006/main">
            <a:off x="558800" y="1498600"/>
            <a:ext cx="10998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50" b="0">
                <a:solidFill>
                  <a:srgbClr val="596778"/>
                </a:solidFill>
                <a:latin typeface="DejaVu Sans"/>
                <a:ea typeface="DejaVu Sans"/>
                <a:cs typeface="DejaVu Sans"/>
              </a:defRPr>
            </a:pPr>
            <a:r>
              <a:rPr sz="1150" b="0">
                <a:solidFill>
                  <a:srgbClr val="596778"/>
                </a:solidFill>
                <a:latin typeface="DejaVu Sans"/>
                <a:ea typeface="DejaVu Sans"/>
                <a:cs typeface="DejaVu Sans"/>
              </a:rPr>
              <a:t>Two target classes: Backhoe Loader and excavator. Images without either class remain negatives.</a:t>
            </a:r>
          </a:p>
        </p:txBody>
      </p:sp>
      <p:sp>
        <p:nvSpPr>
          <p:cNvPr id="5" name="">
            <a:extLst xmlns:a="http://schemas.openxmlformats.org/drawingml/2006/main">
              <a:ext uri="{FF2B5EF4-FFF2-40B4-BE49-F238E27FC236}">
                <a16:creationId xmlns:a16="http://schemas.microsoft.com/office/drawing/2014/main" id="{4200DADB-2A98-4E35-B931-024520803613}"/>
              </a:ext>
            </a:extLst>
          </p:cNvPr>
          <p:cNvSpPr>
            <a:spLocks xmlns:a="http://schemas.openxmlformats.org/drawingml/2006/main" noGrp="1"/>
          </p:cNvSpPr>
          <p:nvPr/>
        </p:nvSpPr>
        <p:spPr>
          <a:xfrm xmlns:a="http://schemas.openxmlformats.org/drawingml/2006/main">
            <a:off x="558800" y="6388100"/>
            <a:ext cx="11074400" cy="0"/>
          </a:xfrm>
          <a:prstGeom xmlns:a="http://schemas.openxmlformats.org/drawingml/2006/main" prst="line">
            <a:avLst/>
          </a:prstGeom>
          <a:noFill xmlns:a="http://schemas.openxmlformats.org/drawingml/2006/main"/>
          <a:ln xmlns:a="http://schemas.openxmlformats.org/drawingml/2006/main" w="12700">
            <a:solidFill>
              <a:srgbClr val="DCE4EE"/>
            </a:solidFill>
            <a:prstDash val="solid"/>
          </a:ln>
        </p:spPr>
      </p:sp>
      <p:sp>
        <p:nvSpPr>
          <p:cNvPr id="6" name="">
            <a:extLst xmlns:a="http://schemas.openxmlformats.org/drawingml/2006/main">
              <a:ext uri="{FF2B5EF4-FFF2-40B4-BE49-F238E27FC236}">
                <a16:creationId xmlns:a16="http://schemas.microsoft.com/office/drawing/2014/main" id="{FE86EB7D-2044-498B-9155-F1336E699C61}"/>
              </a:ext>
            </a:extLst>
          </p:cNvPr>
          <p:cNvSpPr>
            <a:spLocks xmlns:a="http://schemas.openxmlformats.org/drawingml/2006/main" noGrp="1"/>
          </p:cNvSpPr>
          <p:nvPr/>
        </p:nvSpPr>
        <p:spPr>
          <a:xfrm xmlns:a="http://schemas.openxmlformats.org/drawingml/2006/main">
            <a:off x="558800" y="6502400"/>
            <a:ext cx="863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50" b="0">
                <a:solidFill>
                  <a:srgbClr val="596778"/>
                </a:solidFill>
                <a:latin typeface="DejaVu Sans"/>
                <a:ea typeface="DejaVu Sans"/>
                <a:cs typeface="DejaVu Sans"/>
              </a:defRPr>
            </a:pPr>
            <a:r>
              <a:rPr sz="850" b="0">
                <a:solidFill>
                  <a:srgbClr val="596778"/>
                </a:solidFill>
                <a:latin typeface="DejaVu Sans"/>
                <a:ea typeface="DejaVu Sans"/>
                <a:cs typeface="DejaVu Sans"/>
              </a:rPr>
              <a:t>ASIYA BEGUM  /  M4U3 COMPUTER VISION</a:t>
            </a:r>
          </a:p>
        </p:txBody>
      </p:sp>
      <p:sp>
        <p:nvSpPr>
          <p:cNvPr id="7" name="">
            <a:extLst xmlns:a="http://schemas.openxmlformats.org/drawingml/2006/main">
              <a:ext uri="{FF2B5EF4-FFF2-40B4-BE49-F238E27FC236}">
                <a16:creationId xmlns:a16="http://schemas.microsoft.com/office/drawing/2014/main" id="{99F7AC05-A81D-4D63-8AB2-FEA902F90B83}"/>
              </a:ext>
            </a:extLst>
          </p:cNvPr>
          <p:cNvSpPr>
            <a:spLocks xmlns:a="http://schemas.openxmlformats.org/drawingml/2006/main" noGrp="1"/>
          </p:cNvSpPr>
          <p:nvPr/>
        </p:nvSpPr>
        <p:spPr>
          <a:xfrm xmlns:a="http://schemas.openxmlformats.org/drawingml/2006/main">
            <a:off x="10985500" y="6502400"/>
            <a:ext cx="647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50" b="0">
                <a:solidFill>
                  <a:srgbClr val="596778"/>
                </a:solidFill>
                <a:latin typeface="DejaVu Sans"/>
                <a:ea typeface="DejaVu Sans"/>
                <a:cs typeface="DejaVu Sans"/>
              </a:defRPr>
            </a:pPr>
            <a:r>
              <a:rPr sz="850" b="0">
                <a:solidFill>
                  <a:srgbClr val="596778"/>
                </a:solidFill>
                <a:latin typeface="DejaVu Sans"/>
                <a:ea typeface="DejaVu Sans"/>
                <a:cs typeface="DejaVu Sans"/>
              </a:rPr>
              <a:t>02 / 07</a:t>
            </a:r>
          </a:p>
        </p:txBody>
      </p:sp>
      <p:sp>
        <p:nvSpPr>
          <p:cNvPr id="8" name="">
            <a:extLst xmlns:a="http://schemas.openxmlformats.org/drawingml/2006/main">
              <a:ext uri="{FF2B5EF4-FFF2-40B4-BE49-F238E27FC236}">
                <a16:creationId xmlns:a16="http://schemas.microsoft.com/office/drawing/2014/main" id="{02058815-7E9D-47FD-A5AB-8B068AC3FEE4}"/>
              </a:ext>
            </a:extLst>
          </p:cNvPr>
          <p:cNvSpPr>
            <a:spLocks xmlns:a="http://schemas.openxmlformats.org/drawingml/2006/main" noGrp="1"/>
          </p:cNvSpPr>
          <p:nvPr/>
        </p:nvSpPr>
        <p:spPr>
          <a:xfrm xmlns:a="http://schemas.openxmlformats.org/drawingml/2006/main">
            <a:off x="558800" y="2057400"/>
            <a:ext cx="5308600" cy="1295400"/>
          </a:xfrm>
          <a:prstGeom xmlns:a="http://schemas.openxmlformats.org/drawingml/2006/main" prst="roundRect">
            <a:avLst>
              <a:gd name="adj" fmla="val 9804"/>
            </a:avLst>
          </a:prstGeom>
          <a:solidFill xmlns:a="http://schemas.openxmlformats.org/drawingml/2006/main">
            <a:srgbClr val="EDF3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FAA236D-D640-47E1-873B-6789A7E9B77F}"/>
              </a:ext>
            </a:extLst>
          </p:cNvPr>
          <p:cNvSpPr>
            <a:spLocks xmlns:a="http://schemas.openxmlformats.org/drawingml/2006/main" noGrp="1"/>
          </p:cNvSpPr>
          <p:nvPr/>
        </p:nvSpPr>
        <p:spPr>
          <a:xfrm xmlns:a="http://schemas.openxmlformats.org/drawingml/2006/main">
            <a:off x="762000" y="2298700"/>
            <a:ext cx="48895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50" b="1">
                <a:solidFill>
                  <a:srgbClr val="232B36"/>
                </a:solidFill>
                <a:latin typeface="DejaVu Sans"/>
                <a:ea typeface="DejaVu Sans"/>
                <a:cs typeface="DejaVu Sans"/>
              </a:defRPr>
            </a:pPr>
            <a:r>
              <a:rPr sz="1450" b="1">
                <a:solidFill>
                  <a:srgbClr val="232B36"/>
                </a:solidFill>
                <a:latin typeface="DejaVu Sans"/>
                <a:ea typeface="DejaVu Sans"/>
                <a:cs typeface="DejaVu Sans"/>
              </a:rPr>
              <a:t>DataCluster Labs: Backhoe Loaders</a:t>
            </a:r>
          </a:p>
        </p:txBody>
      </p:sp>
      <p:sp>
        <p:nvSpPr>
          <p:cNvPr id="10" name="">
            <a:extLst xmlns:a="http://schemas.openxmlformats.org/drawingml/2006/main">
              <a:ext uri="{FF2B5EF4-FFF2-40B4-BE49-F238E27FC236}">
                <a16:creationId xmlns:a16="http://schemas.microsoft.com/office/drawing/2014/main" id="{229809EE-8E17-4220-990B-15053B7B812C}"/>
              </a:ext>
            </a:extLst>
          </p:cNvPr>
          <p:cNvSpPr>
            <a:spLocks xmlns:a="http://schemas.openxmlformats.org/drawingml/2006/main" noGrp="1"/>
          </p:cNvSpPr>
          <p:nvPr/>
        </p:nvSpPr>
        <p:spPr>
          <a:xfrm xmlns:a="http://schemas.openxmlformats.org/drawingml/2006/main">
            <a:off x="762000" y="2667000"/>
            <a:ext cx="482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40" b="0">
                <a:solidFill>
                  <a:srgbClr val="596778"/>
                </a:solidFill>
                <a:latin typeface="DejaVu Sans"/>
                <a:ea typeface="DejaVu Sans"/>
                <a:cs typeface="DejaVu Sans"/>
              </a:defRPr>
            </a:pPr>
            <a:r>
              <a:rPr sz="1040" b="0">
                <a:solidFill>
                  <a:srgbClr val="596778"/>
                </a:solidFill>
                <a:latin typeface="DejaVu Sans"/>
                <a:ea typeface="DejaVu Sans"/>
                <a:cs typeface="DejaVu Sans"/>
              </a:rPr>
              <a:t>Selected source images labeled “excavator” were visually identified as backhoe loaders and relabeled.</a:t>
            </a:r>
          </a:p>
        </p:txBody>
      </p:sp>
      <p:sp>
        <p:nvSpPr>
          <p:cNvPr id="11" name="">
            <a:extLst xmlns:a="http://schemas.openxmlformats.org/drawingml/2006/main">
              <a:ext uri="{FF2B5EF4-FFF2-40B4-BE49-F238E27FC236}">
                <a16:creationId xmlns:a16="http://schemas.microsoft.com/office/drawing/2014/main" id="{BCD4034C-024B-4092-9299-1668AC2431F4}"/>
              </a:ext>
            </a:extLst>
          </p:cNvPr>
          <p:cNvSpPr>
            <a:spLocks xmlns:a="http://schemas.openxmlformats.org/drawingml/2006/main" noGrp="1"/>
          </p:cNvSpPr>
          <p:nvPr/>
        </p:nvSpPr>
        <p:spPr>
          <a:xfrm xmlns:a="http://schemas.openxmlformats.org/drawingml/2006/main">
            <a:off x="6070600" y="2057400"/>
            <a:ext cx="5562600" cy="1295400"/>
          </a:xfrm>
          <a:prstGeom xmlns:a="http://schemas.openxmlformats.org/drawingml/2006/main" prst="roundRect">
            <a:avLst>
              <a:gd name="adj" fmla="val 9804"/>
            </a:avLst>
          </a:prstGeom>
          <a:solidFill xmlns:a="http://schemas.openxmlformats.org/drawingml/2006/main">
            <a:srgbClr val="EDF3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272ECC6-9A29-49D7-801C-037329070594}"/>
              </a:ext>
            </a:extLst>
          </p:cNvPr>
          <p:cNvSpPr>
            <a:spLocks xmlns:a="http://schemas.openxmlformats.org/drawingml/2006/main" noGrp="1"/>
          </p:cNvSpPr>
          <p:nvPr/>
        </p:nvSpPr>
        <p:spPr>
          <a:xfrm xmlns:a="http://schemas.openxmlformats.org/drawingml/2006/main">
            <a:off x="6273800" y="2298700"/>
            <a:ext cx="51308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50" b="1">
                <a:solidFill>
                  <a:srgbClr val="232B36"/>
                </a:solidFill>
                <a:latin typeface="DejaVu Sans"/>
                <a:ea typeface="DejaVu Sans"/>
                <a:cs typeface="DejaVu Sans"/>
              </a:defRPr>
            </a:pPr>
            <a:r>
              <a:rPr sz="1450" b="1">
                <a:solidFill>
                  <a:srgbClr val="232B36"/>
                </a:solidFill>
                <a:latin typeface="DejaVu Sans"/>
                <a:ea typeface="DejaVu Sans"/>
                <a:cs typeface="DejaVu Sans"/>
              </a:rPr>
              <a:t>Mohamed Sabek: Excavators</a:t>
            </a:r>
          </a:p>
        </p:txBody>
      </p:sp>
      <p:sp>
        <p:nvSpPr>
          <p:cNvPr id="13" name="">
            <a:extLst xmlns:a="http://schemas.openxmlformats.org/drawingml/2006/main">
              <a:ext uri="{FF2B5EF4-FFF2-40B4-BE49-F238E27FC236}">
                <a16:creationId xmlns:a16="http://schemas.microsoft.com/office/drawing/2014/main" id="{108ED5ED-26D0-49FB-93D1-286EC60B7FB7}"/>
              </a:ext>
            </a:extLst>
          </p:cNvPr>
          <p:cNvSpPr>
            <a:spLocks xmlns:a="http://schemas.openxmlformats.org/drawingml/2006/main" noGrp="1"/>
          </p:cNvSpPr>
          <p:nvPr/>
        </p:nvSpPr>
        <p:spPr>
          <a:xfrm xmlns:a="http://schemas.openxmlformats.org/drawingml/2006/main">
            <a:off x="6273800" y="2667000"/>
            <a:ext cx="5130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40" b="0">
                <a:solidFill>
                  <a:srgbClr val="596778"/>
                </a:solidFill>
                <a:latin typeface="DejaVu Sans"/>
                <a:ea typeface="DejaVu Sans"/>
                <a:cs typeface="DejaVu Sans"/>
              </a:defRPr>
            </a:pPr>
            <a:r>
              <a:rPr sz="1040" b="0">
                <a:solidFill>
                  <a:srgbClr val="596778"/>
                </a:solidFill>
                <a:latin typeface="DejaVu Sans"/>
                <a:ea typeface="DejaVu Sans"/>
                <a:cs typeface="DejaVu Sans"/>
              </a:rPr>
              <a:t>Actual excavator photos were cloned from a second source to complete the two-class task.</a:t>
            </a:r>
          </a:p>
        </p:txBody>
      </p:sp>
      <p:sp>
        <p:nvSpPr>
          <p:cNvPr id="14" name="">
            <a:extLst xmlns:a="http://schemas.openxmlformats.org/drawingml/2006/main">
              <a:ext uri="{FF2B5EF4-FFF2-40B4-BE49-F238E27FC236}">
                <a16:creationId xmlns:a16="http://schemas.microsoft.com/office/drawing/2014/main" id="{5DFBA640-A215-42C2-A5EC-C43E9BEF8F07}"/>
              </a:ext>
            </a:extLst>
          </p:cNvPr>
          <p:cNvSpPr>
            <a:spLocks xmlns:a="http://schemas.openxmlformats.org/drawingml/2006/main" noGrp="1"/>
          </p:cNvSpPr>
          <p:nvPr/>
        </p:nvSpPr>
        <p:spPr>
          <a:xfrm xmlns:a="http://schemas.openxmlformats.org/drawingml/2006/main">
            <a:off x="558800" y="3543300"/>
            <a:ext cx="2641600" cy="1371600"/>
          </a:xfrm>
          <a:prstGeom xmlns:a="http://schemas.openxmlformats.org/drawingml/2006/main" prst="roundRect">
            <a:avLst>
              <a:gd name="adj" fmla="val 9259"/>
            </a:avLst>
          </a:prstGeom>
          <a:solidFill xmlns:a="http://schemas.openxmlformats.org/drawingml/2006/main">
            <a:srgbClr val="EDF3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A02A54D-367D-4F84-A891-1FA480B3D71F}"/>
              </a:ext>
            </a:extLst>
          </p:cNvPr>
          <p:cNvSpPr>
            <a:spLocks xmlns:a="http://schemas.openxmlformats.org/drawingml/2006/main" noGrp="1"/>
          </p:cNvSpPr>
          <p:nvPr/>
        </p:nvSpPr>
        <p:spPr>
          <a:xfrm xmlns:a="http://schemas.openxmlformats.org/drawingml/2006/main">
            <a:off x="723900" y="3797300"/>
            <a:ext cx="23114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00" b="1">
                <a:solidFill>
                  <a:srgbClr val="1959F2"/>
                </a:solidFill>
                <a:latin typeface="DejaVu Sans"/>
                <a:ea typeface="DejaVu Sans"/>
                <a:cs typeface="DejaVu Sans"/>
              </a:defRPr>
            </a:pPr>
            <a:r>
              <a:rPr sz="2300" b="1">
                <a:solidFill>
                  <a:srgbClr val="1959F2"/>
                </a:solidFill>
                <a:latin typeface="DejaVu Sans"/>
                <a:ea typeface="DejaVu Sans"/>
                <a:cs typeface="DejaVu Sans"/>
              </a:rPr>
              <a:t>105</a:t>
            </a:r>
          </a:p>
        </p:txBody>
      </p:sp>
      <p:sp>
        <p:nvSpPr>
          <p:cNvPr id="16" name="">
            <a:extLst xmlns:a="http://schemas.openxmlformats.org/drawingml/2006/main">
              <a:ext uri="{FF2B5EF4-FFF2-40B4-BE49-F238E27FC236}">
                <a16:creationId xmlns:a16="http://schemas.microsoft.com/office/drawing/2014/main" id="{8CF3AA15-7AFA-4D0E-BBE1-63665D98DDAD}"/>
              </a:ext>
            </a:extLst>
          </p:cNvPr>
          <p:cNvSpPr>
            <a:spLocks xmlns:a="http://schemas.openxmlformats.org/drawingml/2006/main" noGrp="1"/>
          </p:cNvSpPr>
          <p:nvPr/>
        </p:nvSpPr>
        <p:spPr>
          <a:xfrm xmlns:a="http://schemas.openxmlformats.org/drawingml/2006/main">
            <a:off x="723900" y="4216400"/>
            <a:ext cx="23114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50" b="1">
                <a:solidFill>
                  <a:srgbClr val="232B36"/>
                </a:solidFill>
                <a:latin typeface="DejaVu Sans"/>
                <a:ea typeface="DejaVu Sans"/>
                <a:cs typeface="DejaVu Sans"/>
              </a:defRPr>
            </a:pPr>
            <a:r>
              <a:rPr sz="1150" b="1">
                <a:solidFill>
                  <a:srgbClr val="232B36"/>
                </a:solidFill>
                <a:latin typeface="DejaVu Sans"/>
                <a:ea typeface="DejaVu Sans"/>
                <a:cs typeface="DejaVu Sans"/>
              </a:rPr>
              <a:t>Training</a:t>
            </a:r>
          </a:p>
        </p:txBody>
      </p:sp>
      <p:sp>
        <p:nvSpPr>
          <p:cNvPr id="17" name="">
            <a:extLst xmlns:a="http://schemas.openxmlformats.org/drawingml/2006/main">
              <a:ext uri="{FF2B5EF4-FFF2-40B4-BE49-F238E27FC236}">
                <a16:creationId xmlns:a16="http://schemas.microsoft.com/office/drawing/2014/main" id="{73B87D9F-46BB-4088-BF1C-40B7824E5C55}"/>
              </a:ext>
            </a:extLst>
          </p:cNvPr>
          <p:cNvSpPr>
            <a:spLocks xmlns:a="http://schemas.openxmlformats.org/drawingml/2006/main" noGrp="1"/>
          </p:cNvSpPr>
          <p:nvPr/>
        </p:nvSpPr>
        <p:spPr>
          <a:xfrm xmlns:a="http://schemas.openxmlformats.org/drawingml/2006/main">
            <a:off x="723900" y="4470400"/>
            <a:ext cx="2311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70" b="0">
                <a:solidFill>
                  <a:srgbClr val="596778"/>
                </a:solidFill>
                <a:latin typeface="DejaVu Sans"/>
                <a:ea typeface="DejaVu Sans"/>
                <a:cs typeface="DejaVu Sans"/>
              </a:defRPr>
            </a:pPr>
            <a:r>
              <a:rPr sz="870" b="0">
                <a:solidFill>
                  <a:srgbClr val="596778"/>
                </a:solidFill>
                <a:latin typeface="DejaVu Sans"/>
                <a:ea typeface="DejaVu Sans"/>
                <a:cs typeface="DejaVu Sans"/>
              </a:rPr>
              <a:t>80.2% of 131 images</a:t>
            </a:r>
          </a:p>
        </p:txBody>
      </p:sp>
      <p:sp>
        <p:nvSpPr>
          <p:cNvPr id="18" name="">
            <a:extLst xmlns:a="http://schemas.openxmlformats.org/drawingml/2006/main">
              <a:ext uri="{FF2B5EF4-FFF2-40B4-BE49-F238E27FC236}">
                <a16:creationId xmlns:a16="http://schemas.microsoft.com/office/drawing/2014/main" id="{5032AEFC-6553-43CB-A0DD-51AC1D111C1C}"/>
              </a:ext>
            </a:extLst>
          </p:cNvPr>
          <p:cNvSpPr>
            <a:spLocks xmlns:a="http://schemas.openxmlformats.org/drawingml/2006/main" noGrp="1"/>
          </p:cNvSpPr>
          <p:nvPr/>
        </p:nvSpPr>
        <p:spPr>
          <a:xfrm xmlns:a="http://schemas.openxmlformats.org/drawingml/2006/main">
            <a:off x="3365500" y="3543300"/>
            <a:ext cx="2641600" cy="1371600"/>
          </a:xfrm>
          <a:prstGeom xmlns:a="http://schemas.openxmlformats.org/drawingml/2006/main" prst="roundRect">
            <a:avLst>
              <a:gd name="adj" fmla="val 9259"/>
            </a:avLst>
          </a:prstGeom>
          <a:solidFill xmlns:a="http://schemas.openxmlformats.org/drawingml/2006/main">
            <a:srgbClr val="EDF3F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176BC66-5E62-494C-8785-D47C4D05F9D0}"/>
              </a:ext>
            </a:extLst>
          </p:cNvPr>
          <p:cNvSpPr>
            <a:spLocks xmlns:a="http://schemas.openxmlformats.org/drawingml/2006/main" noGrp="1"/>
          </p:cNvSpPr>
          <p:nvPr/>
        </p:nvSpPr>
        <p:spPr>
          <a:xfrm xmlns:a="http://schemas.openxmlformats.org/drawingml/2006/main">
            <a:off x="3530600" y="3797300"/>
            <a:ext cx="23114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00" b="1">
                <a:solidFill>
                  <a:srgbClr val="1959F2"/>
                </a:solidFill>
                <a:latin typeface="DejaVu Sans"/>
                <a:ea typeface="DejaVu Sans"/>
                <a:cs typeface="DejaVu Sans"/>
              </a:defRPr>
            </a:pPr>
            <a:r>
              <a:rPr sz="2300" b="1">
                <a:solidFill>
                  <a:srgbClr val="1959F2"/>
                </a:solidFill>
                <a:latin typeface="DejaVu Sans"/>
                <a:ea typeface="DejaVu Sans"/>
                <a:cs typeface="DejaVu Sans"/>
              </a:rPr>
              <a:t>13</a:t>
            </a:r>
          </a:p>
        </p:txBody>
      </p:sp>
      <p:sp>
        <p:nvSpPr>
          <p:cNvPr id="20" name="">
            <a:extLst xmlns:a="http://schemas.openxmlformats.org/drawingml/2006/main">
              <a:ext uri="{FF2B5EF4-FFF2-40B4-BE49-F238E27FC236}">
                <a16:creationId xmlns:a16="http://schemas.microsoft.com/office/drawing/2014/main" id="{E10BE54A-4D8F-41EC-8F70-DE5BEEEA929A}"/>
              </a:ext>
            </a:extLst>
          </p:cNvPr>
          <p:cNvSpPr>
            <a:spLocks xmlns:a="http://schemas.openxmlformats.org/drawingml/2006/main" noGrp="1"/>
          </p:cNvSpPr>
          <p:nvPr/>
        </p:nvSpPr>
        <p:spPr>
          <a:xfrm xmlns:a="http://schemas.openxmlformats.org/drawingml/2006/main">
            <a:off x="3530600" y="4216400"/>
            <a:ext cx="23114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50" b="1">
                <a:solidFill>
                  <a:srgbClr val="232B36"/>
                </a:solidFill>
                <a:latin typeface="DejaVu Sans"/>
                <a:ea typeface="DejaVu Sans"/>
                <a:cs typeface="DejaVu Sans"/>
              </a:defRPr>
            </a:pPr>
            <a:r>
              <a:rPr sz="1150" b="1">
                <a:solidFill>
                  <a:srgbClr val="232B36"/>
                </a:solidFill>
                <a:latin typeface="DejaVu Sans"/>
                <a:ea typeface="DejaVu Sans"/>
                <a:cs typeface="DejaVu Sans"/>
              </a:rPr>
              <a:t>Validation</a:t>
            </a:r>
          </a:p>
        </p:txBody>
      </p:sp>
      <p:sp>
        <p:nvSpPr>
          <p:cNvPr id="21" name="">
            <a:extLst xmlns:a="http://schemas.openxmlformats.org/drawingml/2006/main">
              <a:ext uri="{FF2B5EF4-FFF2-40B4-BE49-F238E27FC236}">
                <a16:creationId xmlns:a16="http://schemas.microsoft.com/office/drawing/2014/main" id="{6B481751-96D0-48DD-9F51-861D79A87BF7}"/>
              </a:ext>
            </a:extLst>
          </p:cNvPr>
          <p:cNvSpPr>
            <a:spLocks xmlns:a="http://schemas.openxmlformats.org/drawingml/2006/main" noGrp="1"/>
          </p:cNvSpPr>
          <p:nvPr/>
        </p:nvSpPr>
        <p:spPr>
          <a:xfrm xmlns:a="http://schemas.openxmlformats.org/drawingml/2006/main">
            <a:off x="3530600" y="4470400"/>
            <a:ext cx="2311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70" b="0">
                <a:solidFill>
                  <a:srgbClr val="596778"/>
                </a:solidFill>
                <a:latin typeface="DejaVu Sans"/>
                <a:ea typeface="DejaVu Sans"/>
                <a:cs typeface="DejaVu Sans"/>
              </a:defRPr>
            </a:pPr>
            <a:r>
              <a:rPr sz="870" b="0">
                <a:solidFill>
                  <a:srgbClr val="596778"/>
                </a:solidFill>
                <a:latin typeface="DejaVu Sans"/>
                <a:ea typeface="DejaVu Sans"/>
                <a:cs typeface="DejaVu Sans"/>
              </a:rPr>
              <a:t>Held out for selection</a:t>
            </a:r>
          </a:p>
        </p:txBody>
      </p:sp>
      <p:sp>
        <p:nvSpPr>
          <p:cNvPr id="22" name="">
            <a:extLst xmlns:a="http://schemas.openxmlformats.org/drawingml/2006/main">
              <a:ext uri="{FF2B5EF4-FFF2-40B4-BE49-F238E27FC236}">
                <a16:creationId xmlns:a16="http://schemas.microsoft.com/office/drawing/2014/main" id="{886C5145-FEA6-48F0-B125-CD385F45F43C}"/>
              </a:ext>
            </a:extLst>
          </p:cNvPr>
          <p:cNvSpPr>
            <a:spLocks xmlns:a="http://schemas.openxmlformats.org/drawingml/2006/main" noGrp="1"/>
          </p:cNvSpPr>
          <p:nvPr/>
        </p:nvSpPr>
        <p:spPr>
          <a:xfrm xmlns:a="http://schemas.openxmlformats.org/drawingml/2006/main">
            <a:off x="6172200" y="3543300"/>
            <a:ext cx="2641600" cy="1371600"/>
          </a:xfrm>
          <a:prstGeom xmlns:a="http://schemas.openxmlformats.org/drawingml/2006/main" prst="roundRect">
            <a:avLst>
              <a:gd name="adj" fmla="val 9259"/>
            </a:avLst>
          </a:prstGeom>
          <a:solidFill xmlns:a="http://schemas.openxmlformats.org/drawingml/2006/main">
            <a:srgbClr val="EDF3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5F739FB-CF7E-4736-9116-60F3E7C27C26}"/>
              </a:ext>
            </a:extLst>
          </p:cNvPr>
          <p:cNvSpPr>
            <a:spLocks xmlns:a="http://schemas.openxmlformats.org/drawingml/2006/main" noGrp="1"/>
          </p:cNvSpPr>
          <p:nvPr/>
        </p:nvSpPr>
        <p:spPr>
          <a:xfrm xmlns:a="http://schemas.openxmlformats.org/drawingml/2006/main">
            <a:off x="6337300" y="3797300"/>
            <a:ext cx="23114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00" b="1">
                <a:solidFill>
                  <a:srgbClr val="1959F2"/>
                </a:solidFill>
                <a:latin typeface="DejaVu Sans"/>
                <a:ea typeface="DejaVu Sans"/>
                <a:cs typeface="DejaVu Sans"/>
              </a:defRPr>
            </a:pPr>
            <a:r>
              <a:rPr sz="2300" b="1">
                <a:solidFill>
                  <a:srgbClr val="1959F2"/>
                </a:solidFill>
                <a:latin typeface="DejaVu Sans"/>
                <a:ea typeface="DejaVu Sans"/>
                <a:cs typeface="DejaVu Sans"/>
              </a:rPr>
              <a:t>13</a:t>
            </a:r>
          </a:p>
        </p:txBody>
      </p:sp>
      <p:sp>
        <p:nvSpPr>
          <p:cNvPr id="24" name="">
            <a:extLst xmlns:a="http://schemas.openxmlformats.org/drawingml/2006/main">
              <a:ext uri="{FF2B5EF4-FFF2-40B4-BE49-F238E27FC236}">
                <a16:creationId xmlns:a16="http://schemas.microsoft.com/office/drawing/2014/main" id="{64349200-5E74-4D19-A978-15B1C73CF41C}"/>
              </a:ext>
            </a:extLst>
          </p:cNvPr>
          <p:cNvSpPr>
            <a:spLocks xmlns:a="http://schemas.openxmlformats.org/drawingml/2006/main" noGrp="1"/>
          </p:cNvSpPr>
          <p:nvPr/>
        </p:nvSpPr>
        <p:spPr>
          <a:xfrm xmlns:a="http://schemas.openxmlformats.org/drawingml/2006/main">
            <a:off x="6337300" y="4216400"/>
            <a:ext cx="23114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50" b="1">
                <a:solidFill>
                  <a:srgbClr val="232B36"/>
                </a:solidFill>
                <a:latin typeface="DejaVu Sans"/>
                <a:ea typeface="DejaVu Sans"/>
                <a:cs typeface="DejaVu Sans"/>
              </a:defRPr>
            </a:pPr>
            <a:r>
              <a:rPr sz="1150" b="1">
                <a:solidFill>
                  <a:srgbClr val="232B36"/>
                </a:solidFill>
                <a:latin typeface="DejaVu Sans"/>
                <a:ea typeface="DejaVu Sans"/>
                <a:cs typeface="DejaVu Sans"/>
              </a:rPr>
              <a:t>Testing</a:t>
            </a:r>
          </a:p>
        </p:txBody>
      </p:sp>
      <p:sp>
        <p:nvSpPr>
          <p:cNvPr id="25" name="">
            <a:extLst xmlns:a="http://schemas.openxmlformats.org/drawingml/2006/main">
              <a:ext uri="{FF2B5EF4-FFF2-40B4-BE49-F238E27FC236}">
                <a16:creationId xmlns:a16="http://schemas.microsoft.com/office/drawing/2014/main" id="{5F90F640-F52D-4732-BF90-E4BBE9D9A861}"/>
              </a:ext>
            </a:extLst>
          </p:cNvPr>
          <p:cNvSpPr>
            <a:spLocks xmlns:a="http://schemas.openxmlformats.org/drawingml/2006/main" noGrp="1"/>
          </p:cNvSpPr>
          <p:nvPr/>
        </p:nvSpPr>
        <p:spPr>
          <a:xfrm xmlns:a="http://schemas.openxmlformats.org/drawingml/2006/main">
            <a:off x="6337300" y="4470400"/>
            <a:ext cx="2311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70" b="0">
                <a:solidFill>
                  <a:srgbClr val="596778"/>
                </a:solidFill>
                <a:latin typeface="DejaVu Sans"/>
                <a:ea typeface="DejaVu Sans"/>
                <a:cs typeface="DejaVu Sans"/>
              </a:defRPr>
            </a:pPr>
            <a:r>
              <a:rPr sz="870" b="0">
                <a:solidFill>
                  <a:srgbClr val="596778"/>
                </a:solidFill>
                <a:latin typeface="DejaVu Sans"/>
                <a:ea typeface="DejaVu Sans"/>
                <a:cs typeface="DejaVu Sans"/>
              </a:rPr>
              <a:t>Untouched final check</a:t>
            </a:r>
          </a:p>
        </p:txBody>
      </p:sp>
      <p:sp>
        <p:nvSpPr>
          <p:cNvPr id="26" name="">
            <a:extLst xmlns:a="http://schemas.openxmlformats.org/drawingml/2006/main">
              <a:ext uri="{FF2B5EF4-FFF2-40B4-BE49-F238E27FC236}">
                <a16:creationId xmlns:a16="http://schemas.microsoft.com/office/drawing/2014/main" id="{5AC97EA7-B9C8-41FF-8DF6-A2367BF9E20E}"/>
              </a:ext>
            </a:extLst>
          </p:cNvPr>
          <p:cNvSpPr>
            <a:spLocks xmlns:a="http://schemas.openxmlformats.org/drawingml/2006/main" noGrp="1"/>
          </p:cNvSpPr>
          <p:nvPr/>
        </p:nvSpPr>
        <p:spPr>
          <a:xfrm xmlns:a="http://schemas.openxmlformats.org/drawingml/2006/main">
            <a:off x="8978900" y="3543300"/>
            <a:ext cx="2641600" cy="1371600"/>
          </a:xfrm>
          <a:prstGeom xmlns:a="http://schemas.openxmlformats.org/drawingml/2006/main" prst="roundRect">
            <a:avLst>
              <a:gd name="adj" fmla="val 9259"/>
            </a:avLst>
          </a:prstGeom>
          <a:solidFill xmlns:a="http://schemas.openxmlformats.org/drawingml/2006/main">
            <a:srgbClr val="EDF3F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25139355-F1DA-41DD-89D7-4F0474A26230}"/>
              </a:ext>
            </a:extLst>
          </p:cNvPr>
          <p:cNvSpPr>
            <a:spLocks xmlns:a="http://schemas.openxmlformats.org/drawingml/2006/main" noGrp="1"/>
          </p:cNvSpPr>
          <p:nvPr/>
        </p:nvSpPr>
        <p:spPr>
          <a:xfrm xmlns:a="http://schemas.openxmlformats.org/drawingml/2006/main">
            <a:off x="9144000" y="3797300"/>
            <a:ext cx="23114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00" b="1">
                <a:solidFill>
                  <a:srgbClr val="1959F2"/>
                </a:solidFill>
                <a:latin typeface="DejaVu Sans"/>
                <a:ea typeface="DejaVu Sans"/>
                <a:cs typeface="DejaVu Sans"/>
              </a:defRPr>
            </a:pPr>
            <a:r>
              <a:rPr sz="2300" b="1">
                <a:solidFill>
                  <a:srgbClr val="1959F2"/>
                </a:solidFill>
                <a:latin typeface="DejaVu Sans"/>
                <a:ea typeface="DejaVu Sans"/>
                <a:cs typeface="DejaVu Sans"/>
              </a:rPr>
              <a:t>11</a:t>
            </a:r>
          </a:p>
        </p:txBody>
      </p:sp>
      <p:sp>
        <p:nvSpPr>
          <p:cNvPr id="28" name="">
            <a:extLst xmlns:a="http://schemas.openxmlformats.org/drawingml/2006/main">
              <a:ext uri="{FF2B5EF4-FFF2-40B4-BE49-F238E27FC236}">
                <a16:creationId xmlns:a16="http://schemas.microsoft.com/office/drawing/2014/main" id="{62770B6A-8A0E-47FF-B9D5-C07865DD2A64}"/>
              </a:ext>
            </a:extLst>
          </p:cNvPr>
          <p:cNvSpPr>
            <a:spLocks xmlns:a="http://schemas.openxmlformats.org/drawingml/2006/main" noGrp="1"/>
          </p:cNvSpPr>
          <p:nvPr/>
        </p:nvSpPr>
        <p:spPr>
          <a:xfrm xmlns:a="http://schemas.openxmlformats.org/drawingml/2006/main">
            <a:off x="9144000" y="4216400"/>
            <a:ext cx="23114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50" b="1">
                <a:solidFill>
                  <a:srgbClr val="232B36"/>
                </a:solidFill>
                <a:latin typeface="DejaVu Sans"/>
                <a:ea typeface="DejaVu Sans"/>
                <a:cs typeface="DejaVu Sans"/>
              </a:defRPr>
            </a:pPr>
            <a:r>
              <a:rPr sz="1150" b="1">
                <a:solidFill>
                  <a:srgbClr val="232B36"/>
                </a:solidFill>
                <a:latin typeface="DejaVu Sans"/>
                <a:ea typeface="DejaVu Sans"/>
                <a:cs typeface="DejaVu Sans"/>
              </a:rPr>
              <a:t>Negatives</a:t>
            </a:r>
          </a:p>
        </p:txBody>
      </p:sp>
      <p:sp>
        <p:nvSpPr>
          <p:cNvPr id="29" name="">
            <a:extLst xmlns:a="http://schemas.openxmlformats.org/drawingml/2006/main">
              <a:ext uri="{FF2B5EF4-FFF2-40B4-BE49-F238E27FC236}">
                <a16:creationId xmlns:a16="http://schemas.microsoft.com/office/drawing/2014/main" id="{25B51B80-2637-422B-8079-303043F793D4}"/>
              </a:ext>
            </a:extLst>
          </p:cNvPr>
          <p:cNvSpPr>
            <a:spLocks xmlns:a="http://schemas.openxmlformats.org/drawingml/2006/main" noGrp="1"/>
          </p:cNvSpPr>
          <p:nvPr/>
        </p:nvSpPr>
        <p:spPr>
          <a:xfrm xmlns:a="http://schemas.openxmlformats.org/drawingml/2006/main">
            <a:off x="9144000" y="4470400"/>
            <a:ext cx="2311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70" b="0">
                <a:solidFill>
                  <a:srgbClr val="596778"/>
                </a:solidFill>
                <a:latin typeface="DejaVu Sans"/>
                <a:ea typeface="DejaVu Sans"/>
                <a:cs typeface="DejaVu Sans"/>
              </a:defRPr>
            </a:pPr>
            <a:r>
              <a:rPr sz="870" b="0">
                <a:solidFill>
                  <a:srgbClr val="596778"/>
                </a:solidFill>
                <a:latin typeface="DejaVu Sans"/>
                <a:ea typeface="DejaVu Sans"/>
                <a:cs typeface="DejaVu Sans"/>
              </a:rPr>
              <a:t>Across all three splits</a:t>
            </a:r>
          </a:p>
        </p:txBody>
      </p:sp>
      <p:sp>
        <p:nvSpPr>
          <p:cNvPr id="30" name="">
            <a:extLst xmlns:a="http://schemas.openxmlformats.org/drawingml/2006/main">
              <a:ext uri="{FF2B5EF4-FFF2-40B4-BE49-F238E27FC236}">
                <a16:creationId xmlns:a16="http://schemas.microsoft.com/office/drawing/2014/main" id="{6D566564-546E-4310-9862-9C1C4222590C}"/>
              </a:ext>
            </a:extLst>
          </p:cNvPr>
          <p:cNvSpPr>
            <a:spLocks xmlns:a="http://schemas.openxmlformats.org/drawingml/2006/main" noGrp="1"/>
          </p:cNvSpPr>
          <p:nvPr/>
        </p:nvSpPr>
        <p:spPr>
          <a:xfrm xmlns:a="http://schemas.openxmlformats.org/drawingml/2006/main">
            <a:off x="558800" y="5118100"/>
            <a:ext cx="110744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b="0">
                <a:solidFill>
                  <a:srgbClr val="232B36"/>
                </a:solidFill>
                <a:latin typeface="DejaVu Sans"/>
                <a:ea typeface="DejaVu Sans"/>
                <a:cs typeface="DejaVu Sans"/>
              </a:defRPr>
            </a:pPr>
            <a:r>
              <a:rPr sz="1050" b="0">
                <a:solidFill>
                  <a:srgbClr val="232B36"/>
                </a:solidFill>
                <a:latin typeface="DejaVu Sans"/>
                <a:ea typeface="DejaVu Sans"/>
                <a:cs typeface="DejaVu Sans"/>
              </a:rPr>
              <a:t>Frozen version 3: about 80% train and 20% held out (validation + test). Related views were grouped before export. Auto-orient, 640 × 640 black-edge fit and exclusion-tag filtering were applied; export augmentation was off.</a:t>
            </a:r>
          </a:p>
        </p:txBody>
      </p:sp>
      <p:sp>
        <p:nvSpPr>
          <p:cNvPr id="31" name="">
            <a:extLst xmlns:a="http://schemas.openxmlformats.org/drawingml/2006/main">
              <a:ext uri="{FF2B5EF4-FFF2-40B4-BE49-F238E27FC236}">
                <a16:creationId xmlns:a16="http://schemas.microsoft.com/office/drawing/2014/main" id="{5D3603B0-6E3D-4DBC-8824-C3E6015394E7}"/>
              </a:ext>
            </a:extLst>
          </p:cNvPr>
          <p:cNvSpPr>
            <a:spLocks xmlns:a="http://schemas.openxmlformats.org/drawingml/2006/main" noGrp="1"/>
          </p:cNvSpPr>
          <p:nvPr/>
        </p:nvSpPr>
        <p:spPr>
          <a:xfrm xmlns:a="http://schemas.openxmlformats.org/drawingml/2006/main">
            <a:off x="558800" y="5943600"/>
            <a:ext cx="110744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40" b="0">
                <a:solidFill>
                  <a:srgbClr val="596778"/>
                </a:solidFill>
                <a:latin typeface="DejaVu Sans"/>
                <a:ea typeface="DejaVu Sans"/>
                <a:cs typeface="DejaVu Sans"/>
              </a:defRPr>
            </a:pPr>
            <a:r>
              <a:rPr sz="840" b="0">
                <a:solidFill>
                  <a:srgbClr val="596778"/>
                </a:solidFill>
                <a:latin typeface="DejaVu Sans"/>
                <a:ea typeface="DejaVu Sans"/>
                <a:cs typeface="DejaVu Sans"/>
              </a:rPr>
              <a:t>Photo sources: DataCluster Labs and Mohamed Sabek on Roboflow Universe; CC BY 4.0 as listed by each source.</a:t>
            </a:r>
          </a:p>
        </p:txBody>
      </p:sp>
    </p:spTree>
    <p:extLst>
      <p:ext uri="{BB962C8B-B14F-4D97-AF65-F5344CB8AC3E}">
        <p14:creationId xmlns:p14="http://schemas.microsoft.com/office/powerpoint/2010/main" val="104236719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0641A03-A8CD-4857-976F-1C3CB325F58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959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4C6D15A-A771-47A0-88CC-F5FE41995D67}"/>
              </a:ext>
            </a:extLst>
          </p:cNvPr>
          <p:cNvSpPr>
            <a:spLocks xmlns:a="http://schemas.openxmlformats.org/drawingml/2006/main" noGrp="1"/>
          </p:cNvSpPr>
          <p:nvPr/>
        </p:nvSpPr>
        <p:spPr>
          <a:xfrm xmlns:a="http://schemas.openxmlformats.org/drawingml/2006/main">
            <a:off x="558800" y="495300"/>
            <a:ext cx="102870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50" b="1">
                <a:solidFill>
                  <a:srgbClr val="1959F2"/>
                </a:solidFill>
                <a:latin typeface="DejaVu Sans"/>
                <a:ea typeface="DejaVu Sans"/>
                <a:cs typeface="DejaVu Sans"/>
              </a:defRPr>
            </a:pPr>
            <a:r>
              <a:rPr sz="950" b="1">
                <a:solidFill>
                  <a:srgbClr val="1959F2"/>
                </a:solidFill>
                <a:latin typeface="DejaVu Sans"/>
                <a:ea typeface="DejaVu Sans"/>
                <a:cs typeface="DejaVu Sans"/>
              </a:rPr>
              <a:t>WORKFLOW AND TRAINING EVIDENCE</a:t>
            </a:r>
          </a:p>
        </p:txBody>
      </p:sp>
      <p:sp>
        <p:nvSpPr>
          <p:cNvPr id="3" name="">
            <a:extLst xmlns:a="http://schemas.openxmlformats.org/drawingml/2006/main">
              <a:ext uri="{FF2B5EF4-FFF2-40B4-BE49-F238E27FC236}">
                <a16:creationId xmlns:a16="http://schemas.microsoft.com/office/drawing/2014/main" id="{ED446E9D-794C-483D-91B3-D0B986A416B1}"/>
              </a:ext>
            </a:extLst>
          </p:cNvPr>
          <p:cNvSpPr>
            <a:spLocks xmlns:a="http://schemas.openxmlformats.org/drawingml/2006/main" noGrp="1"/>
          </p:cNvSpPr>
          <p:nvPr/>
        </p:nvSpPr>
        <p:spPr>
          <a:xfrm xmlns:a="http://schemas.openxmlformats.org/drawingml/2006/main">
            <a:off x="558800" y="914400"/>
            <a:ext cx="111125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00" b="1">
                <a:solidFill>
                  <a:srgbClr val="232B36"/>
                </a:solidFill>
                <a:latin typeface="DejaVu Sans"/>
                <a:ea typeface="DejaVu Sans"/>
                <a:cs typeface="DejaVu Sans"/>
              </a:defRPr>
            </a:pPr>
            <a:r>
              <a:rPr sz="2500" b="1">
                <a:solidFill>
                  <a:srgbClr val="232B36"/>
                </a:solidFill>
                <a:latin typeface="DejaVu Sans"/>
                <a:ea typeface="DejaVu Sans"/>
                <a:cs typeface="DejaVu Sans"/>
              </a:rPr>
              <a:t>From Roboflow versions to the trained detector</a:t>
            </a:r>
          </a:p>
        </p:txBody>
      </p:sp>
      <p:sp>
        <p:nvSpPr>
          <p:cNvPr id="4" name="">
            <a:extLst xmlns:a="http://schemas.openxmlformats.org/drawingml/2006/main">
              <a:ext uri="{FF2B5EF4-FFF2-40B4-BE49-F238E27FC236}">
                <a16:creationId xmlns:a16="http://schemas.microsoft.com/office/drawing/2014/main" id="{F4C40DA7-B5C1-4816-A429-7A257F70A655}"/>
              </a:ext>
            </a:extLst>
          </p:cNvPr>
          <p:cNvSpPr>
            <a:spLocks xmlns:a="http://schemas.openxmlformats.org/drawingml/2006/main" noGrp="1"/>
          </p:cNvSpPr>
          <p:nvPr/>
        </p:nvSpPr>
        <p:spPr>
          <a:xfrm xmlns:a="http://schemas.openxmlformats.org/drawingml/2006/main">
            <a:off x="558800" y="1498600"/>
            <a:ext cx="10998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50" b="0">
                <a:solidFill>
                  <a:srgbClr val="596778"/>
                </a:solidFill>
                <a:latin typeface="DejaVu Sans"/>
                <a:ea typeface="DejaVu Sans"/>
                <a:cs typeface="DejaVu Sans"/>
              </a:defRPr>
            </a:pPr>
            <a:r>
              <a:rPr sz="1150" b="0">
                <a:solidFill>
                  <a:srgbClr val="596778"/>
                </a:solidFill>
                <a:latin typeface="DejaVu Sans"/>
                <a:ea typeface="DejaVu Sans"/>
                <a:cs typeface="DejaVu Sans"/>
              </a:rPr>
              <a:t>Related views were grouped before the frozen version 3 export.</a:t>
            </a:r>
          </a:p>
        </p:txBody>
      </p:sp>
      <p:sp>
        <p:nvSpPr>
          <p:cNvPr id="5" name="">
            <a:extLst xmlns:a="http://schemas.openxmlformats.org/drawingml/2006/main">
              <a:ext uri="{FF2B5EF4-FFF2-40B4-BE49-F238E27FC236}">
                <a16:creationId xmlns:a16="http://schemas.microsoft.com/office/drawing/2014/main" id="{4F0F7957-9760-4B11-9C4D-C3F7A67ACD26}"/>
              </a:ext>
            </a:extLst>
          </p:cNvPr>
          <p:cNvSpPr>
            <a:spLocks xmlns:a="http://schemas.openxmlformats.org/drawingml/2006/main" noGrp="1"/>
          </p:cNvSpPr>
          <p:nvPr/>
        </p:nvSpPr>
        <p:spPr>
          <a:xfrm xmlns:a="http://schemas.openxmlformats.org/drawingml/2006/main">
            <a:off x="558800" y="6388100"/>
            <a:ext cx="11074400" cy="0"/>
          </a:xfrm>
          <a:prstGeom xmlns:a="http://schemas.openxmlformats.org/drawingml/2006/main" prst="line">
            <a:avLst/>
          </a:prstGeom>
          <a:noFill xmlns:a="http://schemas.openxmlformats.org/drawingml/2006/main"/>
          <a:ln xmlns:a="http://schemas.openxmlformats.org/drawingml/2006/main" w="12700">
            <a:solidFill>
              <a:srgbClr val="DCE4EE"/>
            </a:solidFill>
            <a:prstDash val="solid"/>
          </a:ln>
        </p:spPr>
      </p:sp>
      <p:sp>
        <p:nvSpPr>
          <p:cNvPr id="6" name="">
            <a:extLst xmlns:a="http://schemas.openxmlformats.org/drawingml/2006/main">
              <a:ext uri="{FF2B5EF4-FFF2-40B4-BE49-F238E27FC236}">
                <a16:creationId xmlns:a16="http://schemas.microsoft.com/office/drawing/2014/main" id="{528BD4FA-D555-4CB3-9233-3B70B133A304}"/>
              </a:ext>
            </a:extLst>
          </p:cNvPr>
          <p:cNvSpPr>
            <a:spLocks xmlns:a="http://schemas.openxmlformats.org/drawingml/2006/main" noGrp="1"/>
          </p:cNvSpPr>
          <p:nvPr/>
        </p:nvSpPr>
        <p:spPr>
          <a:xfrm xmlns:a="http://schemas.openxmlformats.org/drawingml/2006/main">
            <a:off x="558800" y="6502400"/>
            <a:ext cx="863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50" b="0">
                <a:solidFill>
                  <a:srgbClr val="596778"/>
                </a:solidFill>
                <a:latin typeface="DejaVu Sans"/>
                <a:ea typeface="DejaVu Sans"/>
                <a:cs typeface="DejaVu Sans"/>
              </a:defRPr>
            </a:pPr>
            <a:r>
              <a:rPr sz="850" b="0">
                <a:solidFill>
                  <a:srgbClr val="596778"/>
                </a:solidFill>
                <a:latin typeface="DejaVu Sans"/>
                <a:ea typeface="DejaVu Sans"/>
                <a:cs typeface="DejaVu Sans"/>
              </a:rPr>
              <a:t>ASIYA BEGUM  /  M4U3 COMPUTER VISION</a:t>
            </a:r>
          </a:p>
        </p:txBody>
      </p:sp>
      <p:sp>
        <p:nvSpPr>
          <p:cNvPr id="7" name="">
            <a:extLst xmlns:a="http://schemas.openxmlformats.org/drawingml/2006/main">
              <a:ext uri="{FF2B5EF4-FFF2-40B4-BE49-F238E27FC236}">
                <a16:creationId xmlns:a16="http://schemas.microsoft.com/office/drawing/2014/main" id="{D0174846-D9F3-44EC-BDDB-10317AC57E3A}"/>
              </a:ext>
            </a:extLst>
          </p:cNvPr>
          <p:cNvSpPr>
            <a:spLocks xmlns:a="http://schemas.openxmlformats.org/drawingml/2006/main" noGrp="1"/>
          </p:cNvSpPr>
          <p:nvPr/>
        </p:nvSpPr>
        <p:spPr>
          <a:xfrm xmlns:a="http://schemas.openxmlformats.org/drawingml/2006/main">
            <a:off x="10985500" y="6502400"/>
            <a:ext cx="647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50" b="0">
                <a:solidFill>
                  <a:srgbClr val="596778"/>
                </a:solidFill>
                <a:latin typeface="DejaVu Sans"/>
                <a:ea typeface="DejaVu Sans"/>
                <a:cs typeface="DejaVu Sans"/>
              </a:defRPr>
            </a:pPr>
            <a:r>
              <a:rPr sz="850" b="0">
                <a:solidFill>
                  <a:srgbClr val="596778"/>
                </a:solidFill>
                <a:latin typeface="DejaVu Sans"/>
                <a:ea typeface="DejaVu Sans"/>
                <a:cs typeface="DejaVu Sans"/>
              </a:rPr>
              <a:t>03 / 07</a:t>
            </a:r>
          </a:p>
        </p:txBody>
      </p:sp>
      <p:sp>
        <p:nvSpPr>
          <p:cNvPr id="8" name="">
            <a:extLst xmlns:a="http://schemas.openxmlformats.org/drawingml/2006/main">
              <a:ext uri="{FF2B5EF4-FFF2-40B4-BE49-F238E27FC236}">
                <a16:creationId xmlns:a16="http://schemas.microsoft.com/office/drawing/2014/main" id="{C3D58DD5-B3E1-4EDC-BBF5-8778099BEA65}"/>
              </a:ext>
            </a:extLst>
          </p:cNvPr>
          <p:cNvSpPr>
            <a:spLocks xmlns:a="http://schemas.openxmlformats.org/drawingml/2006/main" noGrp="1"/>
          </p:cNvSpPr>
          <p:nvPr/>
        </p:nvSpPr>
        <p:spPr>
          <a:xfrm xmlns:a="http://schemas.openxmlformats.org/drawingml/2006/main">
            <a:off x="558800" y="1943100"/>
            <a:ext cx="11074400" cy="965200"/>
          </a:xfrm>
          <a:prstGeom xmlns:a="http://schemas.openxmlformats.org/drawingml/2006/main" prst="roundRect">
            <a:avLst>
              <a:gd name="adj" fmla="val 13158"/>
            </a:avLst>
          </a:prstGeom>
          <a:solidFill xmlns:a="http://schemas.openxmlformats.org/drawingml/2006/main">
            <a:srgbClr val="EDF3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0DB0174-E4A8-41FB-AF77-A47C6E9DB3C0}"/>
              </a:ext>
            </a:extLst>
          </p:cNvPr>
          <p:cNvSpPr>
            <a:spLocks xmlns:a="http://schemas.openxmlformats.org/drawingml/2006/main" noGrp="1"/>
          </p:cNvSpPr>
          <p:nvPr/>
        </p:nvSpPr>
        <p:spPr>
          <a:xfrm xmlns:a="http://schemas.openxmlformats.org/drawingml/2006/main">
            <a:off x="749300" y="2159000"/>
            <a:ext cx="23495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00" b="1">
                <a:solidFill>
                  <a:srgbClr val="1959F2"/>
                </a:solidFill>
                <a:latin typeface="DejaVu Sans"/>
                <a:ea typeface="DejaVu Sans"/>
                <a:cs typeface="DejaVu Sans"/>
              </a:defRPr>
            </a:pPr>
            <a:r>
              <a:rPr sz="1100" b="1">
                <a:solidFill>
                  <a:srgbClr val="1959F2"/>
                </a:solidFill>
                <a:latin typeface="DejaVu Sans"/>
                <a:ea typeface="DejaVu Sans"/>
                <a:cs typeface="DejaVu Sans"/>
              </a:rPr>
              <a:t>V1 review</a:t>
            </a:r>
          </a:p>
        </p:txBody>
      </p:sp>
      <p:sp>
        <p:nvSpPr>
          <p:cNvPr id="10" name="">
            <a:extLst xmlns:a="http://schemas.openxmlformats.org/drawingml/2006/main">
              <a:ext uri="{FF2B5EF4-FFF2-40B4-BE49-F238E27FC236}">
                <a16:creationId xmlns:a16="http://schemas.microsoft.com/office/drawing/2014/main" id="{29F37B9C-9D65-4CA4-9948-7A9685F8D90D}"/>
              </a:ext>
            </a:extLst>
          </p:cNvPr>
          <p:cNvSpPr>
            <a:spLocks xmlns:a="http://schemas.openxmlformats.org/drawingml/2006/main" noGrp="1"/>
          </p:cNvSpPr>
          <p:nvPr/>
        </p:nvSpPr>
        <p:spPr>
          <a:xfrm xmlns:a="http://schemas.openxmlformats.org/drawingml/2006/main">
            <a:off x="749300" y="2451100"/>
            <a:ext cx="233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20" b="0">
                <a:solidFill>
                  <a:srgbClr val="596778"/>
                </a:solidFill>
                <a:latin typeface="DejaVu Sans"/>
                <a:ea typeface="DejaVu Sans"/>
                <a:cs typeface="DejaVu Sans"/>
              </a:defRPr>
            </a:pPr>
            <a:r>
              <a:rPr sz="920" b="0">
                <a:solidFill>
                  <a:srgbClr val="596778"/>
                </a:solidFill>
                <a:latin typeface="DejaVu Sans"/>
                <a:ea typeface="DejaVu Sans"/>
                <a:cs typeface="DejaVu Sans"/>
              </a:rPr>
              <a:t>Labels and split inspected</a:t>
            </a:r>
          </a:p>
        </p:txBody>
      </p:sp>
      <p:sp>
        <p:nvSpPr>
          <p:cNvPr id="11" name="">
            <a:extLst xmlns:a="http://schemas.openxmlformats.org/drawingml/2006/main">
              <a:ext uri="{FF2B5EF4-FFF2-40B4-BE49-F238E27FC236}">
                <a16:creationId xmlns:a16="http://schemas.microsoft.com/office/drawing/2014/main" id="{CD9071CA-1306-4ACE-9F88-E0A40BBE9641}"/>
              </a:ext>
            </a:extLst>
          </p:cNvPr>
          <p:cNvSpPr>
            <a:spLocks xmlns:a="http://schemas.openxmlformats.org/drawingml/2006/main" noGrp="1"/>
          </p:cNvSpPr>
          <p:nvPr/>
        </p:nvSpPr>
        <p:spPr>
          <a:xfrm xmlns:a="http://schemas.openxmlformats.org/drawingml/2006/main">
            <a:off x="3086100" y="2413000"/>
            <a:ext cx="330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0">
                <a:solidFill>
                  <a:srgbClr val="1959F2"/>
                </a:solidFill>
                <a:latin typeface="DejaVu Sans"/>
                <a:ea typeface="DejaVu Sans"/>
                <a:cs typeface="DejaVu Sans"/>
              </a:defRPr>
            </a:pPr>
            <a:r>
              <a:rPr sz="1500" b="0">
                <a:solidFill>
                  <a:srgbClr val="1959F2"/>
                </a:solidFill>
                <a:latin typeface="DejaVu Sans"/>
                <a:ea typeface="DejaVu Sans"/>
                <a:cs typeface="DejaVu Sans"/>
              </a:rPr>
              <a:t>→</a:t>
            </a:r>
          </a:p>
        </p:txBody>
      </p:sp>
      <p:sp>
        <p:nvSpPr>
          <p:cNvPr id="12" name="">
            <a:extLst xmlns:a="http://schemas.openxmlformats.org/drawingml/2006/main">
              <a:ext uri="{FF2B5EF4-FFF2-40B4-BE49-F238E27FC236}">
                <a16:creationId xmlns:a16="http://schemas.microsoft.com/office/drawing/2014/main" id="{7B370650-4781-4124-A834-663A2832722A}"/>
              </a:ext>
            </a:extLst>
          </p:cNvPr>
          <p:cNvSpPr>
            <a:spLocks xmlns:a="http://schemas.openxmlformats.org/drawingml/2006/main" noGrp="1"/>
          </p:cNvSpPr>
          <p:nvPr/>
        </p:nvSpPr>
        <p:spPr>
          <a:xfrm xmlns:a="http://schemas.openxmlformats.org/drawingml/2006/main">
            <a:off x="3492500" y="2159000"/>
            <a:ext cx="23495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00" b="1">
                <a:solidFill>
                  <a:srgbClr val="1959F2"/>
                </a:solidFill>
                <a:latin typeface="DejaVu Sans"/>
                <a:ea typeface="DejaVu Sans"/>
                <a:cs typeface="DejaVu Sans"/>
              </a:defRPr>
            </a:pPr>
            <a:r>
              <a:rPr sz="1100" b="1">
                <a:solidFill>
                  <a:srgbClr val="1959F2"/>
                </a:solidFill>
                <a:latin typeface="DejaVu Sans"/>
                <a:ea typeface="DejaVu Sans"/>
                <a:cs typeface="DejaVu Sans"/>
              </a:rPr>
              <a:t>Group views</a:t>
            </a:r>
          </a:p>
        </p:txBody>
      </p:sp>
      <p:sp>
        <p:nvSpPr>
          <p:cNvPr id="13" name="">
            <a:extLst xmlns:a="http://schemas.openxmlformats.org/drawingml/2006/main">
              <a:ext uri="{FF2B5EF4-FFF2-40B4-BE49-F238E27FC236}">
                <a16:creationId xmlns:a16="http://schemas.microsoft.com/office/drawing/2014/main" id="{5C3CBEEE-AB97-481F-92E4-5DC639932EF9}"/>
              </a:ext>
            </a:extLst>
          </p:cNvPr>
          <p:cNvSpPr>
            <a:spLocks xmlns:a="http://schemas.openxmlformats.org/drawingml/2006/main" noGrp="1"/>
          </p:cNvSpPr>
          <p:nvPr/>
        </p:nvSpPr>
        <p:spPr>
          <a:xfrm xmlns:a="http://schemas.openxmlformats.org/drawingml/2006/main">
            <a:off x="3492500" y="2451100"/>
            <a:ext cx="233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20" b="0">
                <a:solidFill>
                  <a:srgbClr val="596778"/>
                </a:solidFill>
                <a:latin typeface="DejaVu Sans"/>
                <a:ea typeface="DejaVu Sans"/>
                <a:cs typeface="DejaVu Sans"/>
              </a:defRPr>
            </a:pPr>
            <a:r>
              <a:rPr sz="920" b="0">
                <a:solidFill>
                  <a:srgbClr val="596778"/>
                </a:solidFill>
                <a:latin typeface="DejaVu Sans"/>
                <a:ea typeface="DejaVu Sans"/>
                <a:cs typeface="DejaVu Sans"/>
              </a:rPr>
              <a:t>Related photos kept together</a:t>
            </a:r>
          </a:p>
        </p:txBody>
      </p:sp>
      <p:sp>
        <p:nvSpPr>
          <p:cNvPr id="14" name="">
            <a:extLst xmlns:a="http://schemas.openxmlformats.org/drawingml/2006/main">
              <a:ext uri="{FF2B5EF4-FFF2-40B4-BE49-F238E27FC236}">
                <a16:creationId xmlns:a16="http://schemas.microsoft.com/office/drawing/2014/main" id="{C5CC6728-D099-4704-A491-84B6B10AEC0F}"/>
              </a:ext>
            </a:extLst>
          </p:cNvPr>
          <p:cNvSpPr>
            <a:spLocks xmlns:a="http://schemas.openxmlformats.org/drawingml/2006/main" noGrp="1"/>
          </p:cNvSpPr>
          <p:nvPr/>
        </p:nvSpPr>
        <p:spPr>
          <a:xfrm xmlns:a="http://schemas.openxmlformats.org/drawingml/2006/main">
            <a:off x="5829300" y="2413000"/>
            <a:ext cx="330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0">
                <a:solidFill>
                  <a:srgbClr val="1959F2"/>
                </a:solidFill>
                <a:latin typeface="DejaVu Sans"/>
                <a:ea typeface="DejaVu Sans"/>
                <a:cs typeface="DejaVu Sans"/>
              </a:defRPr>
            </a:pPr>
            <a:r>
              <a:rPr sz="1500" b="0">
                <a:solidFill>
                  <a:srgbClr val="1959F2"/>
                </a:solidFill>
                <a:latin typeface="DejaVu Sans"/>
                <a:ea typeface="DejaVu Sans"/>
                <a:cs typeface="DejaVu Sans"/>
              </a:rPr>
              <a:t>→</a:t>
            </a:r>
          </a:p>
        </p:txBody>
      </p:sp>
      <p:sp>
        <p:nvSpPr>
          <p:cNvPr id="15" name="">
            <a:extLst xmlns:a="http://schemas.openxmlformats.org/drawingml/2006/main">
              <a:ext uri="{FF2B5EF4-FFF2-40B4-BE49-F238E27FC236}">
                <a16:creationId xmlns:a16="http://schemas.microsoft.com/office/drawing/2014/main" id="{9364CE27-23D3-44C9-B57D-3F0157F7A658}"/>
              </a:ext>
            </a:extLst>
          </p:cNvPr>
          <p:cNvSpPr>
            <a:spLocks xmlns:a="http://schemas.openxmlformats.org/drawingml/2006/main" noGrp="1"/>
          </p:cNvSpPr>
          <p:nvPr/>
        </p:nvSpPr>
        <p:spPr>
          <a:xfrm xmlns:a="http://schemas.openxmlformats.org/drawingml/2006/main">
            <a:off x="6235700" y="2159000"/>
            <a:ext cx="23495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00" b="1">
                <a:solidFill>
                  <a:srgbClr val="1959F2"/>
                </a:solidFill>
                <a:latin typeface="DejaVu Sans"/>
                <a:ea typeface="DejaVu Sans"/>
                <a:cs typeface="DejaVu Sans"/>
              </a:defRPr>
            </a:pPr>
            <a:r>
              <a:rPr sz="1100" b="1">
                <a:solidFill>
                  <a:srgbClr val="1959F2"/>
                </a:solidFill>
                <a:latin typeface="DejaVu Sans"/>
                <a:ea typeface="DejaVu Sans"/>
                <a:cs typeface="DejaVu Sans"/>
              </a:rPr>
              <a:t>Freeze V3</a:t>
            </a:r>
          </a:p>
        </p:txBody>
      </p:sp>
      <p:sp>
        <p:nvSpPr>
          <p:cNvPr id="16" name="">
            <a:extLst xmlns:a="http://schemas.openxmlformats.org/drawingml/2006/main">
              <a:ext uri="{FF2B5EF4-FFF2-40B4-BE49-F238E27FC236}">
                <a16:creationId xmlns:a16="http://schemas.microsoft.com/office/drawing/2014/main" id="{88A744F7-D2CB-4C69-8C89-B343144B35C6}"/>
              </a:ext>
            </a:extLst>
          </p:cNvPr>
          <p:cNvSpPr>
            <a:spLocks xmlns:a="http://schemas.openxmlformats.org/drawingml/2006/main" noGrp="1"/>
          </p:cNvSpPr>
          <p:nvPr/>
        </p:nvSpPr>
        <p:spPr>
          <a:xfrm xmlns:a="http://schemas.openxmlformats.org/drawingml/2006/main">
            <a:off x="6235700" y="2451100"/>
            <a:ext cx="233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20" b="0">
                <a:solidFill>
                  <a:srgbClr val="596778"/>
                </a:solidFill>
                <a:latin typeface="DejaVu Sans"/>
                <a:ea typeface="DejaVu Sans"/>
                <a:cs typeface="DejaVu Sans"/>
              </a:defRPr>
            </a:pPr>
            <a:r>
              <a:rPr sz="920" b="0">
                <a:solidFill>
                  <a:srgbClr val="596778"/>
                </a:solidFill>
                <a:latin typeface="DejaVu Sans"/>
                <a:ea typeface="DejaVu Sans"/>
                <a:cs typeface="DejaVu Sans"/>
              </a:rPr>
              <a:t>131 images and SHA256 ZIP</a:t>
            </a:r>
          </a:p>
        </p:txBody>
      </p:sp>
      <p:sp>
        <p:nvSpPr>
          <p:cNvPr id="17" name="">
            <a:extLst xmlns:a="http://schemas.openxmlformats.org/drawingml/2006/main">
              <a:ext uri="{FF2B5EF4-FFF2-40B4-BE49-F238E27FC236}">
                <a16:creationId xmlns:a16="http://schemas.microsoft.com/office/drawing/2014/main" id="{FE482EEF-6453-4155-9CC7-0AC4A6967847}"/>
              </a:ext>
            </a:extLst>
          </p:cNvPr>
          <p:cNvSpPr>
            <a:spLocks xmlns:a="http://schemas.openxmlformats.org/drawingml/2006/main" noGrp="1"/>
          </p:cNvSpPr>
          <p:nvPr/>
        </p:nvSpPr>
        <p:spPr>
          <a:xfrm xmlns:a="http://schemas.openxmlformats.org/drawingml/2006/main">
            <a:off x="8572500" y="2413000"/>
            <a:ext cx="330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0">
                <a:solidFill>
                  <a:srgbClr val="1959F2"/>
                </a:solidFill>
                <a:latin typeface="DejaVu Sans"/>
                <a:ea typeface="DejaVu Sans"/>
                <a:cs typeface="DejaVu Sans"/>
              </a:defRPr>
            </a:pPr>
            <a:r>
              <a:rPr sz="1500" b="0">
                <a:solidFill>
                  <a:srgbClr val="1959F2"/>
                </a:solidFill>
                <a:latin typeface="DejaVu Sans"/>
                <a:ea typeface="DejaVu Sans"/>
                <a:cs typeface="DejaVu Sans"/>
              </a:rPr>
              <a:t>→</a:t>
            </a:r>
          </a:p>
        </p:txBody>
      </p:sp>
      <p:sp>
        <p:nvSpPr>
          <p:cNvPr id="18" name="">
            <a:extLst xmlns:a="http://schemas.openxmlformats.org/drawingml/2006/main">
              <a:ext uri="{FF2B5EF4-FFF2-40B4-BE49-F238E27FC236}">
                <a16:creationId xmlns:a16="http://schemas.microsoft.com/office/drawing/2014/main" id="{FD67DD2A-211D-4184-A1FF-2AC63FB5B470}"/>
              </a:ext>
            </a:extLst>
          </p:cNvPr>
          <p:cNvSpPr>
            <a:spLocks xmlns:a="http://schemas.openxmlformats.org/drawingml/2006/main" noGrp="1"/>
          </p:cNvSpPr>
          <p:nvPr/>
        </p:nvSpPr>
        <p:spPr>
          <a:xfrm xmlns:a="http://schemas.openxmlformats.org/drawingml/2006/main">
            <a:off x="8978900" y="2159000"/>
            <a:ext cx="23495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00" b="1">
                <a:solidFill>
                  <a:srgbClr val="1959F2"/>
                </a:solidFill>
                <a:latin typeface="DejaVu Sans"/>
                <a:ea typeface="DejaVu Sans"/>
                <a:cs typeface="DejaVu Sans"/>
              </a:defRPr>
            </a:pPr>
            <a:r>
              <a:rPr sz="1100" b="1">
                <a:solidFill>
                  <a:srgbClr val="1959F2"/>
                </a:solidFill>
                <a:latin typeface="DejaVu Sans"/>
                <a:ea typeface="DejaVu Sans"/>
                <a:cs typeface="DejaVu Sans"/>
              </a:rPr>
              <a:t>Train + test</a:t>
            </a:r>
          </a:p>
        </p:txBody>
      </p:sp>
      <p:sp>
        <p:nvSpPr>
          <p:cNvPr id="19" name="">
            <a:extLst xmlns:a="http://schemas.openxmlformats.org/drawingml/2006/main">
              <a:ext uri="{FF2B5EF4-FFF2-40B4-BE49-F238E27FC236}">
                <a16:creationId xmlns:a16="http://schemas.microsoft.com/office/drawing/2014/main" id="{C247BA39-CA61-4715-8543-EF1EF3BD994D}"/>
              </a:ext>
            </a:extLst>
          </p:cNvPr>
          <p:cNvSpPr>
            <a:spLocks xmlns:a="http://schemas.openxmlformats.org/drawingml/2006/main" noGrp="1"/>
          </p:cNvSpPr>
          <p:nvPr/>
        </p:nvSpPr>
        <p:spPr>
          <a:xfrm xmlns:a="http://schemas.openxmlformats.org/drawingml/2006/main">
            <a:off x="8978900" y="2451100"/>
            <a:ext cx="233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20" b="0">
                <a:solidFill>
                  <a:srgbClr val="596778"/>
                </a:solidFill>
                <a:latin typeface="DejaVu Sans"/>
                <a:ea typeface="DejaVu Sans"/>
                <a:cs typeface="DejaVu Sans"/>
              </a:defRPr>
            </a:pPr>
            <a:r>
              <a:rPr sz="920" b="0">
                <a:solidFill>
                  <a:srgbClr val="596778"/>
                </a:solidFill>
                <a:latin typeface="DejaVu Sans"/>
                <a:ea typeface="DejaVu Sans"/>
                <a:cs typeface="DejaVu Sans"/>
              </a:rPr>
              <a:t>YOLO26n, 30 epochs; 13 test photos</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62db58e6e17d4840"/>
          <a:stretch xmlns:a="http://schemas.openxmlformats.org/drawingml/2006/main"/>
        </p:blipFill>
        <p:spPr>
          <a:xfrm xmlns:a="http://schemas.openxmlformats.org/drawingml/2006/main">
            <a:off x="1930400" y="3175000"/>
            <a:ext cx="8331200" cy="26035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3E7DDB6A-2E31-4E41-A1DA-1A6FB34D714C}"/>
              </a:ext>
            </a:extLst>
          </p:cNvPr>
          <p:cNvSpPr>
            <a:spLocks xmlns:a="http://schemas.openxmlformats.org/drawingml/2006/main" noGrp="1"/>
          </p:cNvSpPr>
          <p:nvPr/>
        </p:nvSpPr>
        <p:spPr>
          <a:xfrm xmlns:a="http://schemas.openxmlformats.org/drawingml/2006/main">
            <a:off x="698500" y="5854700"/>
            <a:ext cx="1079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50" b="0">
                <a:solidFill>
                  <a:srgbClr val="232B36"/>
                </a:solidFill>
                <a:latin typeface="DejaVu Sans"/>
                <a:ea typeface="DejaVu Sans"/>
                <a:cs typeface="DejaVu Sans"/>
              </a:defRPr>
            </a:pPr>
            <a:r>
              <a:rPr sz="950" b="0">
                <a:solidFill>
                  <a:srgbClr val="232B36"/>
                </a:solidFill>
                <a:latin typeface="DejaVu Sans"/>
                <a:ea typeface="DejaVu Sans"/>
                <a:cs typeface="DejaVu Sans"/>
              </a:rPr>
              <a:t>Selected YOLO curves: training box loss and validation class loss fell overall; validation mAP50 and mAP50–95 rose. The full results.png is in the report and repository.</a:t>
            </a:r>
          </a:p>
        </p:txBody>
      </p:sp>
    </p:spTree>
    <p:extLst>
      <p:ext uri="{BB962C8B-B14F-4D97-AF65-F5344CB8AC3E}">
        <p14:creationId xmlns:p14="http://schemas.microsoft.com/office/powerpoint/2010/main" val="183717391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0D46342-9CE6-4377-BB3E-630965113A2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959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F518957-2398-4B27-BE6A-49F523D37C05}"/>
              </a:ext>
            </a:extLst>
          </p:cNvPr>
          <p:cNvSpPr>
            <a:spLocks xmlns:a="http://schemas.openxmlformats.org/drawingml/2006/main" noGrp="1"/>
          </p:cNvSpPr>
          <p:nvPr/>
        </p:nvSpPr>
        <p:spPr>
          <a:xfrm xmlns:a="http://schemas.openxmlformats.org/drawingml/2006/main">
            <a:off x="558800" y="495300"/>
            <a:ext cx="102870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50" b="1">
                <a:solidFill>
                  <a:srgbClr val="1959F2"/>
                </a:solidFill>
                <a:latin typeface="DejaVu Sans"/>
                <a:ea typeface="DejaVu Sans"/>
                <a:cs typeface="DejaVu Sans"/>
              </a:defRPr>
            </a:pPr>
            <a:r>
              <a:rPr sz="950" b="1">
                <a:solidFill>
                  <a:srgbClr val="1959F2"/>
                </a:solidFill>
                <a:latin typeface="DejaVu Sans"/>
                <a:ea typeface="DejaVu Sans"/>
                <a:cs typeface="DejaVu Sans"/>
              </a:rPr>
              <a:t>HELD-OUT TEST</a:t>
            </a:r>
          </a:p>
        </p:txBody>
      </p:sp>
      <p:sp>
        <p:nvSpPr>
          <p:cNvPr id="3" name="">
            <a:extLst xmlns:a="http://schemas.openxmlformats.org/drawingml/2006/main">
              <a:ext uri="{FF2B5EF4-FFF2-40B4-BE49-F238E27FC236}">
                <a16:creationId xmlns:a16="http://schemas.microsoft.com/office/drawing/2014/main" id="{27A73E9B-F5A3-4D86-9D4B-238FF9FB1CC3}"/>
              </a:ext>
            </a:extLst>
          </p:cNvPr>
          <p:cNvSpPr>
            <a:spLocks xmlns:a="http://schemas.openxmlformats.org/drawingml/2006/main" noGrp="1"/>
          </p:cNvSpPr>
          <p:nvPr/>
        </p:nvSpPr>
        <p:spPr>
          <a:xfrm xmlns:a="http://schemas.openxmlformats.org/drawingml/2006/main">
            <a:off x="558800" y="914400"/>
            <a:ext cx="111125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00" b="1">
                <a:solidFill>
                  <a:srgbClr val="232B36"/>
                </a:solidFill>
                <a:latin typeface="DejaVu Sans"/>
                <a:ea typeface="DejaVu Sans"/>
                <a:cs typeface="DejaVu Sans"/>
              </a:defRPr>
            </a:pPr>
            <a:r>
              <a:rPr sz="2500" b="1">
                <a:solidFill>
                  <a:srgbClr val="232B36"/>
                </a:solidFill>
                <a:latin typeface="DejaVu Sans"/>
                <a:ea typeface="DejaVu Sans"/>
                <a:cs typeface="DejaVu Sans"/>
              </a:rPr>
              <a:t>Test results on 13 held-out images</a:t>
            </a:r>
          </a:p>
        </p:txBody>
      </p:sp>
      <p:sp>
        <p:nvSpPr>
          <p:cNvPr id="4" name="">
            <a:extLst xmlns:a="http://schemas.openxmlformats.org/drawingml/2006/main">
              <a:ext uri="{FF2B5EF4-FFF2-40B4-BE49-F238E27FC236}">
                <a16:creationId xmlns:a16="http://schemas.microsoft.com/office/drawing/2014/main" id="{A6A02540-EE47-4B18-8623-367AD0225781}"/>
              </a:ext>
            </a:extLst>
          </p:cNvPr>
          <p:cNvSpPr>
            <a:spLocks xmlns:a="http://schemas.openxmlformats.org/drawingml/2006/main" noGrp="1"/>
          </p:cNvSpPr>
          <p:nvPr/>
        </p:nvSpPr>
        <p:spPr>
          <a:xfrm xmlns:a="http://schemas.openxmlformats.org/drawingml/2006/main">
            <a:off x="558800" y="1498600"/>
            <a:ext cx="10998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50" b="0">
                <a:solidFill>
                  <a:srgbClr val="596778"/>
                </a:solidFill>
                <a:latin typeface="DejaVu Sans"/>
                <a:ea typeface="DejaVu Sans"/>
                <a:cs typeface="DejaVu Sans"/>
              </a:defRPr>
            </a:pPr>
            <a:r>
              <a:rPr sz="1150" b="0">
                <a:solidFill>
                  <a:srgbClr val="596778"/>
                </a:solidFill>
                <a:latin typeface="DejaVu Sans"/>
                <a:ea typeface="DejaVu Sans"/>
                <a:cs typeface="DejaVu Sans"/>
              </a:rPr>
              <a:t>Twelve labeled objects; the 0.70 provisional recall aim was exceeded in this small test.</a:t>
            </a:r>
          </a:p>
        </p:txBody>
      </p:sp>
      <p:sp>
        <p:nvSpPr>
          <p:cNvPr id="5" name="">
            <a:extLst xmlns:a="http://schemas.openxmlformats.org/drawingml/2006/main">
              <a:ext uri="{FF2B5EF4-FFF2-40B4-BE49-F238E27FC236}">
                <a16:creationId xmlns:a16="http://schemas.microsoft.com/office/drawing/2014/main" id="{9FAB578D-6C6A-41AB-92A8-32FED81B8F1F}"/>
              </a:ext>
            </a:extLst>
          </p:cNvPr>
          <p:cNvSpPr>
            <a:spLocks xmlns:a="http://schemas.openxmlformats.org/drawingml/2006/main" noGrp="1"/>
          </p:cNvSpPr>
          <p:nvPr/>
        </p:nvSpPr>
        <p:spPr>
          <a:xfrm xmlns:a="http://schemas.openxmlformats.org/drawingml/2006/main">
            <a:off x="558800" y="6388100"/>
            <a:ext cx="11074400" cy="0"/>
          </a:xfrm>
          <a:prstGeom xmlns:a="http://schemas.openxmlformats.org/drawingml/2006/main" prst="line">
            <a:avLst/>
          </a:prstGeom>
          <a:noFill xmlns:a="http://schemas.openxmlformats.org/drawingml/2006/main"/>
          <a:ln xmlns:a="http://schemas.openxmlformats.org/drawingml/2006/main" w="12700">
            <a:solidFill>
              <a:srgbClr val="DCE4EE"/>
            </a:solidFill>
            <a:prstDash val="solid"/>
          </a:ln>
        </p:spPr>
      </p:sp>
      <p:sp>
        <p:nvSpPr>
          <p:cNvPr id="6" name="">
            <a:extLst xmlns:a="http://schemas.openxmlformats.org/drawingml/2006/main">
              <a:ext uri="{FF2B5EF4-FFF2-40B4-BE49-F238E27FC236}">
                <a16:creationId xmlns:a16="http://schemas.microsoft.com/office/drawing/2014/main" id="{AA990788-6BEC-4937-B6DB-BB9BD6B080BF}"/>
              </a:ext>
            </a:extLst>
          </p:cNvPr>
          <p:cNvSpPr>
            <a:spLocks xmlns:a="http://schemas.openxmlformats.org/drawingml/2006/main" noGrp="1"/>
          </p:cNvSpPr>
          <p:nvPr/>
        </p:nvSpPr>
        <p:spPr>
          <a:xfrm xmlns:a="http://schemas.openxmlformats.org/drawingml/2006/main">
            <a:off x="558800" y="6502400"/>
            <a:ext cx="863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50" b="0">
                <a:solidFill>
                  <a:srgbClr val="596778"/>
                </a:solidFill>
                <a:latin typeface="DejaVu Sans"/>
                <a:ea typeface="DejaVu Sans"/>
                <a:cs typeface="DejaVu Sans"/>
              </a:defRPr>
            </a:pPr>
            <a:r>
              <a:rPr sz="850" b="0">
                <a:solidFill>
                  <a:srgbClr val="596778"/>
                </a:solidFill>
                <a:latin typeface="DejaVu Sans"/>
                <a:ea typeface="DejaVu Sans"/>
                <a:cs typeface="DejaVu Sans"/>
              </a:rPr>
              <a:t>ASIYA BEGUM  /  M4U3 COMPUTER VISION</a:t>
            </a:r>
          </a:p>
        </p:txBody>
      </p:sp>
      <p:sp>
        <p:nvSpPr>
          <p:cNvPr id="7" name="">
            <a:extLst xmlns:a="http://schemas.openxmlformats.org/drawingml/2006/main">
              <a:ext uri="{FF2B5EF4-FFF2-40B4-BE49-F238E27FC236}">
                <a16:creationId xmlns:a16="http://schemas.microsoft.com/office/drawing/2014/main" id="{56D5A600-5936-4C00-84E1-DACAE7C7D0DB}"/>
              </a:ext>
            </a:extLst>
          </p:cNvPr>
          <p:cNvSpPr>
            <a:spLocks xmlns:a="http://schemas.openxmlformats.org/drawingml/2006/main" noGrp="1"/>
          </p:cNvSpPr>
          <p:nvPr/>
        </p:nvSpPr>
        <p:spPr>
          <a:xfrm xmlns:a="http://schemas.openxmlformats.org/drawingml/2006/main">
            <a:off x="10985500" y="6502400"/>
            <a:ext cx="647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50" b="0">
                <a:solidFill>
                  <a:srgbClr val="596778"/>
                </a:solidFill>
                <a:latin typeface="DejaVu Sans"/>
                <a:ea typeface="DejaVu Sans"/>
                <a:cs typeface="DejaVu Sans"/>
              </a:defRPr>
            </a:pPr>
            <a:r>
              <a:rPr sz="850" b="0">
                <a:solidFill>
                  <a:srgbClr val="596778"/>
                </a:solidFill>
                <a:latin typeface="DejaVu Sans"/>
                <a:ea typeface="DejaVu Sans"/>
                <a:cs typeface="DejaVu Sans"/>
              </a:rPr>
              <a:t>04 / 07</a:t>
            </a:r>
          </a:p>
        </p:txBody>
      </p:sp>
      <p:sp>
        <p:nvSpPr>
          <p:cNvPr id="8" name="">
            <a:extLst xmlns:a="http://schemas.openxmlformats.org/drawingml/2006/main">
              <a:ext uri="{FF2B5EF4-FFF2-40B4-BE49-F238E27FC236}">
                <a16:creationId xmlns:a16="http://schemas.microsoft.com/office/drawing/2014/main" id="{C47A8A4A-21AD-4921-83C6-5883E675659A}"/>
              </a:ext>
            </a:extLst>
          </p:cNvPr>
          <p:cNvSpPr>
            <a:spLocks xmlns:a="http://schemas.openxmlformats.org/drawingml/2006/main" noGrp="1"/>
          </p:cNvSpPr>
          <p:nvPr/>
        </p:nvSpPr>
        <p:spPr>
          <a:xfrm xmlns:a="http://schemas.openxmlformats.org/drawingml/2006/main">
            <a:off x="558800" y="1955800"/>
            <a:ext cx="2514600" cy="1371600"/>
          </a:xfrm>
          <a:prstGeom xmlns:a="http://schemas.openxmlformats.org/drawingml/2006/main" prst="roundRect">
            <a:avLst>
              <a:gd name="adj" fmla="val 9259"/>
            </a:avLst>
          </a:prstGeom>
          <a:solidFill xmlns:a="http://schemas.openxmlformats.org/drawingml/2006/main">
            <a:srgbClr val="EDF3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18BCC15-C694-4924-8A71-BFCDDBA6EBAB}"/>
              </a:ext>
            </a:extLst>
          </p:cNvPr>
          <p:cNvSpPr>
            <a:spLocks xmlns:a="http://schemas.openxmlformats.org/drawingml/2006/main" noGrp="1"/>
          </p:cNvSpPr>
          <p:nvPr/>
        </p:nvSpPr>
        <p:spPr>
          <a:xfrm xmlns:a="http://schemas.openxmlformats.org/drawingml/2006/main">
            <a:off x="723900" y="2209800"/>
            <a:ext cx="21844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00" b="1">
                <a:solidFill>
                  <a:srgbClr val="1959F2"/>
                </a:solidFill>
                <a:latin typeface="DejaVu Sans"/>
                <a:ea typeface="DejaVu Sans"/>
                <a:cs typeface="DejaVu Sans"/>
              </a:defRPr>
            </a:pPr>
            <a:r>
              <a:rPr sz="2300" b="1">
                <a:solidFill>
                  <a:srgbClr val="1959F2"/>
                </a:solidFill>
                <a:latin typeface="DejaVu Sans"/>
                <a:ea typeface="DejaVu Sans"/>
                <a:cs typeface="DejaVu Sans"/>
              </a:rPr>
              <a:t>0.812</a:t>
            </a:r>
          </a:p>
        </p:txBody>
      </p:sp>
      <p:sp>
        <p:nvSpPr>
          <p:cNvPr id="10" name="">
            <a:extLst xmlns:a="http://schemas.openxmlformats.org/drawingml/2006/main">
              <a:ext uri="{FF2B5EF4-FFF2-40B4-BE49-F238E27FC236}">
                <a16:creationId xmlns:a16="http://schemas.microsoft.com/office/drawing/2014/main" id="{EF1FB5E2-4F12-4709-9B50-069C43A75166}"/>
              </a:ext>
            </a:extLst>
          </p:cNvPr>
          <p:cNvSpPr>
            <a:spLocks xmlns:a="http://schemas.openxmlformats.org/drawingml/2006/main" noGrp="1"/>
          </p:cNvSpPr>
          <p:nvPr/>
        </p:nvSpPr>
        <p:spPr>
          <a:xfrm xmlns:a="http://schemas.openxmlformats.org/drawingml/2006/main">
            <a:off x="723900" y="2628900"/>
            <a:ext cx="21844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50" b="1">
                <a:solidFill>
                  <a:srgbClr val="232B36"/>
                </a:solidFill>
                <a:latin typeface="DejaVu Sans"/>
                <a:ea typeface="DejaVu Sans"/>
                <a:cs typeface="DejaVu Sans"/>
              </a:defRPr>
            </a:pPr>
            <a:r>
              <a:rPr sz="1150" b="1">
                <a:solidFill>
                  <a:srgbClr val="232B36"/>
                </a:solidFill>
                <a:latin typeface="DejaVu Sans"/>
                <a:ea typeface="DejaVu Sans"/>
                <a:cs typeface="DejaVu Sans"/>
              </a:rPr>
              <a:t>Precision</a:t>
            </a:r>
          </a:p>
        </p:txBody>
      </p:sp>
      <p:sp>
        <p:nvSpPr>
          <p:cNvPr id="11" name="">
            <a:extLst xmlns:a="http://schemas.openxmlformats.org/drawingml/2006/main">
              <a:ext uri="{FF2B5EF4-FFF2-40B4-BE49-F238E27FC236}">
                <a16:creationId xmlns:a16="http://schemas.microsoft.com/office/drawing/2014/main" id="{5FB88743-19FC-450E-B587-4D3B40A35369}"/>
              </a:ext>
            </a:extLst>
          </p:cNvPr>
          <p:cNvSpPr>
            <a:spLocks xmlns:a="http://schemas.openxmlformats.org/drawingml/2006/main" noGrp="1"/>
          </p:cNvSpPr>
          <p:nvPr/>
        </p:nvSpPr>
        <p:spPr>
          <a:xfrm xmlns:a="http://schemas.openxmlformats.org/drawingml/2006/main">
            <a:off x="723900" y="2882900"/>
            <a:ext cx="218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70" b="0">
                <a:solidFill>
                  <a:srgbClr val="596778"/>
                </a:solidFill>
                <a:latin typeface="DejaVu Sans"/>
                <a:ea typeface="DejaVu Sans"/>
                <a:cs typeface="DejaVu Sans"/>
              </a:defRPr>
            </a:pPr>
            <a:r>
              <a:rPr sz="870" b="0">
                <a:solidFill>
                  <a:srgbClr val="596778"/>
                </a:solidFill>
                <a:latin typeface="DejaVu Sans"/>
                <a:ea typeface="DejaVu Sans"/>
                <a:cs typeface="DejaVu Sans"/>
              </a:rPr>
              <a:t>Predicted box correctness</a:t>
            </a:r>
          </a:p>
        </p:txBody>
      </p:sp>
      <p:sp>
        <p:nvSpPr>
          <p:cNvPr id="12" name="">
            <a:extLst xmlns:a="http://schemas.openxmlformats.org/drawingml/2006/main">
              <a:ext uri="{FF2B5EF4-FFF2-40B4-BE49-F238E27FC236}">
                <a16:creationId xmlns:a16="http://schemas.microsoft.com/office/drawing/2014/main" id="{E7EF02CC-D1A6-481B-8268-FD1CA07FBE31}"/>
              </a:ext>
            </a:extLst>
          </p:cNvPr>
          <p:cNvSpPr>
            <a:spLocks xmlns:a="http://schemas.openxmlformats.org/drawingml/2006/main" noGrp="1"/>
          </p:cNvSpPr>
          <p:nvPr/>
        </p:nvSpPr>
        <p:spPr>
          <a:xfrm xmlns:a="http://schemas.openxmlformats.org/drawingml/2006/main">
            <a:off x="3238500" y="1955800"/>
            <a:ext cx="2514600" cy="1371600"/>
          </a:xfrm>
          <a:prstGeom xmlns:a="http://schemas.openxmlformats.org/drawingml/2006/main" prst="roundRect">
            <a:avLst>
              <a:gd name="adj" fmla="val 9259"/>
            </a:avLst>
          </a:prstGeom>
          <a:solidFill xmlns:a="http://schemas.openxmlformats.org/drawingml/2006/main">
            <a:srgbClr val="EDF3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BC277B7-4B10-4366-9739-949DF5D30C9B}"/>
              </a:ext>
            </a:extLst>
          </p:cNvPr>
          <p:cNvSpPr>
            <a:spLocks xmlns:a="http://schemas.openxmlformats.org/drawingml/2006/main" noGrp="1"/>
          </p:cNvSpPr>
          <p:nvPr/>
        </p:nvSpPr>
        <p:spPr>
          <a:xfrm xmlns:a="http://schemas.openxmlformats.org/drawingml/2006/main">
            <a:off x="3403600" y="2209800"/>
            <a:ext cx="21844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00" b="1">
                <a:solidFill>
                  <a:srgbClr val="1959F2"/>
                </a:solidFill>
                <a:latin typeface="DejaVu Sans"/>
                <a:ea typeface="DejaVu Sans"/>
                <a:cs typeface="DejaVu Sans"/>
              </a:defRPr>
            </a:pPr>
            <a:r>
              <a:rPr sz="2300" b="1">
                <a:solidFill>
                  <a:srgbClr val="1959F2"/>
                </a:solidFill>
                <a:latin typeface="DejaVu Sans"/>
                <a:ea typeface="DejaVu Sans"/>
                <a:cs typeface="DejaVu Sans"/>
              </a:rPr>
              <a:t>0.904</a:t>
            </a:r>
          </a:p>
        </p:txBody>
      </p:sp>
      <p:sp>
        <p:nvSpPr>
          <p:cNvPr id="14" name="">
            <a:extLst xmlns:a="http://schemas.openxmlformats.org/drawingml/2006/main">
              <a:ext uri="{FF2B5EF4-FFF2-40B4-BE49-F238E27FC236}">
                <a16:creationId xmlns:a16="http://schemas.microsoft.com/office/drawing/2014/main" id="{9EAF6B87-9412-49C7-85B4-AE1A4F4E53E1}"/>
              </a:ext>
            </a:extLst>
          </p:cNvPr>
          <p:cNvSpPr>
            <a:spLocks xmlns:a="http://schemas.openxmlformats.org/drawingml/2006/main" noGrp="1"/>
          </p:cNvSpPr>
          <p:nvPr/>
        </p:nvSpPr>
        <p:spPr>
          <a:xfrm xmlns:a="http://schemas.openxmlformats.org/drawingml/2006/main">
            <a:off x="3403600" y="2628900"/>
            <a:ext cx="21844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50" b="1">
                <a:solidFill>
                  <a:srgbClr val="232B36"/>
                </a:solidFill>
                <a:latin typeface="DejaVu Sans"/>
                <a:ea typeface="DejaVu Sans"/>
                <a:cs typeface="DejaVu Sans"/>
              </a:defRPr>
            </a:pPr>
            <a:r>
              <a:rPr sz="1150" b="1">
                <a:solidFill>
                  <a:srgbClr val="232B36"/>
                </a:solidFill>
                <a:latin typeface="DejaVu Sans"/>
                <a:ea typeface="DejaVu Sans"/>
                <a:cs typeface="DejaVu Sans"/>
              </a:rPr>
              <a:t>Recall</a:t>
            </a:r>
          </a:p>
        </p:txBody>
      </p:sp>
      <p:sp>
        <p:nvSpPr>
          <p:cNvPr id="15" name="">
            <a:extLst xmlns:a="http://schemas.openxmlformats.org/drawingml/2006/main">
              <a:ext uri="{FF2B5EF4-FFF2-40B4-BE49-F238E27FC236}">
                <a16:creationId xmlns:a16="http://schemas.microsoft.com/office/drawing/2014/main" id="{276DF2A8-CC94-4C46-9476-D52665C58C1B}"/>
              </a:ext>
            </a:extLst>
          </p:cNvPr>
          <p:cNvSpPr>
            <a:spLocks xmlns:a="http://schemas.openxmlformats.org/drawingml/2006/main" noGrp="1"/>
          </p:cNvSpPr>
          <p:nvPr/>
        </p:nvSpPr>
        <p:spPr>
          <a:xfrm xmlns:a="http://schemas.openxmlformats.org/drawingml/2006/main">
            <a:off x="3403600" y="2882900"/>
            <a:ext cx="218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70" b="0">
                <a:solidFill>
                  <a:srgbClr val="596778"/>
                </a:solidFill>
                <a:latin typeface="DejaVu Sans"/>
                <a:ea typeface="DejaVu Sans"/>
                <a:cs typeface="DejaVu Sans"/>
              </a:defRPr>
            </a:pPr>
            <a:r>
              <a:rPr sz="870" b="0">
                <a:solidFill>
                  <a:srgbClr val="596778"/>
                </a:solidFill>
                <a:latin typeface="DejaVu Sans"/>
                <a:ea typeface="DejaVu Sans"/>
                <a:cs typeface="DejaVu Sans"/>
              </a:rPr>
              <a:t>Provisional aim: 0.70</a:t>
            </a:r>
          </a:p>
        </p:txBody>
      </p:sp>
      <p:sp>
        <p:nvSpPr>
          <p:cNvPr id="16" name="">
            <a:extLst xmlns:a="http://schemas.openxmlformats.org/drawingml/2006/main">
              <a:ext uri="{FF2B5EF4-FFF2-40B4-BE49-F238E27FC236}">
                <a16:creationId xmlns:a16="http://schemas.microsoft.com/office/drawing/2014/main" id="{C113A47E-2294-4B2E-B76E-E131695A0FB3}"/>
              </a:ext>
            </a:extLst>
          </p:cNvPr>
          <p:cNvSpPr>
            <a:spLocks xmlns:a="http://schemas.openxmlformats.org/drawingml/2006/main" noGrp="1"/>
          </p:cNvSpPr>
          <p:nvPr/>
        </p:nvSpPr>
        <p:spPr>
          <a:xfrm xmlns:a="http://schemas.openxmlformats.org/drawingml/2006/main">
            <a:off x="558800" y="3505200"/>
            <a:ext cx="2514600" cy="1371600"/>
          </a:xfrm>
          <a:prstGeom xmlns:a="http://schemas.openxmlformats.org/drawingml/2006/main" prst="roundRect">
            <a:avLst>
              <a:gd name="adj" fmla="val 9259"/>
            </a:avLst>
          </a:prstGeom>
          <a:solidFill xmlns:a="http://schemas.openxmlformats.org/drawingml/2006/main">
            <a:srgbClr val="EDF3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2A96440-191F-4241-9153-48CBA9AD0EB2}"/>
              </a:ext>
            </a:extLst>
          </p:cNvPr>
          <p:cNvSpPr>
            <a:spLocks xmlns:a="http://schemas.openxmlformats.org/drawingml/2006/main" noGrp="1"/>
          </p:cNvSpPr>
          <p:nvPr/>
        </p:nvSpPr>
        <p:spPr>
          <a:xfrm xmlns:a="http://schemas.openxmlformats.org/drawingml/2006/main">
            <a:off x="723900" y="3759200"/>
            <a:ext cx="21844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00" b="1">
                <a:solidFill>
                  <a:srgbClr val="1959F2"/>
                </a:solidFill>
                <a:latin typeface="DejaVu Sans"/>
                <a:ea typeface="DejaVu Sans"/>
                <a:cs typeface="DejaVu Sans"/>
              </a:defRPr>
            </a:pPr>
            <a:r>
              <a:rPr sz="2300" b="1">
                <a:solidFill>
                  <a:srgbClr val="1959F2"/>
                </a:solidFill>
                <a:latin typeface="DejaVu Sans"/>
                <a:ea typeface="DejaVu Sans"/>
                <a:cs typeface="DejaVu Sans"/>
              </a:rPr>
              <a:t>0.938</a:t>
            </a:r>
          </a:p>
        </p:txBody>
      </p:sp>
      <p:sp>
        <p:nvSpPr>
          <p:cNvPr id="18" name="">
            <a:extLst xmlns:a="http://schemas.openxmlformats.org/drawingml/2006/main">
              <a:ext uri="{FF2B5EF4-FFF2-40B4-BE49-F238E27FC236}">
                <a16:creationId xmlns:a16="http://schemas.microsoft.com/office/drawing/2014/main" id="{084DEFC3-D1DD-4D14-AE9F-E8B071487E48}"/>
              </a:ext>
            </a:extLst>
          </p:cNvPr>
          <p:cNvSpPr>
            <a:spLocks xmlns:a="http://schemas.openxmlformats.org/drawingml/2006/main" noGrp="1"/>
          </p:cNvSpPr>
          <p:nvPr/>
        </p:nvSpPr>
        <p:spPr>
          <a:xfrm xmlns:a="http://schemas.openxmlformats.org/drawingml/2006/main">
            <a:off x="723900" y="4178300"/>
            <a:ext cx="21844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50" b="1">
                <a:solidFill>
                  <a:srgbClr val="232B36"/>
                </a:solidFill>
                <a:latin typeface="DejaVu Sans"/>
                <a:ea typeface="DejaVu Sans"/>
                <a:cs typeface="DejaVu Sans"/>
              </a:defRPr>
            </a:pPr>
            <a:r>
              <a:rPr sz="1150" b="1">
                <a:solidFill>
                  <a:srgbClr val="232B36"/>
                </a:solidFill>
                <a:latin typeface="DejaVu Sans"/>
                <a:ea typeface="DejaVu Sans"/>
                <a:cs typeface="DejaVu Sans"/>
              </a:rPr>
              <a:t>mAP50</a:t>
            </a:r>
          </a:p>
        </p:txBody>
      </p:sp>
      <p:sp>
        <p:nvSpPr>
          <p:cNvPr id="19" name="">
            <a:extLst xmlns:a="http://schemas.openxmlformats.org/drawingml/2006/main">
              <a:ext uri="{FF2B5EF4-FFF2-40B4-BE49-F238E27FC236}">
                <a16:creationId xmlns:a16="http://schemas.microsoft.com/office/drawing/2014/main" id="{A8B58CC2-B59D-4215-A0F5-5D9FBE056EF7}"/>
              </a:ext>
            </a:extLst>
          </p:cNvPr>
          <p:cNvSpPr>
            <a:spLocks xmlns:a="http://schemas.openxmlformats.org/drawingml/2006/main" noGrp="1"/>
          </p:cNvSpPr>
          <p:nvPr/>
        </p:nvSpPr>
        <p:spPr>
          <a:xfrm xmlns:a="http://schemas.openxmlformats.org/drawingml/2006/main">
            <a:off x="723900" y="4432300"/>
            <a:ext cx="218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70" b="0">
                <a:solidFill>
                  <a:srgbClr val="596778"/>
                </a:solidFill>
                <a:latin typeface="DejaVu Sans"/>
                <a:ea typeface="DejaVu Sans"/>
                <a:cs typeface="DejaVu Sans"/>
              </a:defRPr>
            </a:pPr>
            <a:r>
              <a:rPr sz="870" b="0">
                <a:solidFill>
                  <a:srgbClr val="596778"/>
                </a:solidFill>
                <a:latin typeface="DejaVu Sans"/>
                <a:ea typeface="DejaVu Sans"/>
                <a:cs typeface="DejaVu Sans"/>
              </a:rPr>
              <a:t>IoU threshold 0.50</a:t>
            </a:r>
          </a:p>
        </p:txBody>
      </p:sp>
      <p:sp>
        <p:nvSpPr>
          <p:cNvPr id="20" name="">
            <a:extLst xmlns:a="http://schemas.openxmlformats.org/drawingml/2006/main">
              <a:ext uri="{FF2B5EF4-FFF2-40B4-BE49-F238E27FC236}">
                <a16:creationId xmlns:a16="http://schemas.microsoft.com/office/drawing/2014/main" id="{231D0AC5-04B2-4B5F-99CB-73C0ABB1102D}"/>
              </a:ext>
            </a:extLst>
          </p:cNvPr>
          <p:cNvSpPr>
            <a:spLocks xmlns:a="http://schemas.openxmlformats.org/drawingml/2006/main" noGrp="1"/>
          </p:cNvSpPr>
          <p:nvPr/>
        </p:nvSpPr>
        <p:spPr>
          <a:xfrm xmlns:a="http://schemas.openxmlformats.org/drawingml/2006/main">
            <a:off x="3238500" y="3505200"/>
            <a:ext cx="2514600" cy="1371600"/>
          </a:xfrm>
          <a:prstGeom xmlns:a="http://schemas.openxmlformats.org/drawingml/2006/main" prst="roundRect">
            <a:avLst>
              <a:gd name="adj" fmla="val 9259"/>
            </a:avLst>
          </a:prstGeom>
          <a:solidFill xmlns:a="http://schemas.openxmlformats.org/drawingml/2006/main">
            <a:srgbClr val="EDF3F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6D80EA3-BF98-4149-9F31-FD17A00A0845}"/>
              </a:ext>
            </a:extLst>
          </p:cNvPr>
          <p:cNvSpPr>
            <a:spLocks xmlns:a="http://schemas.openxmlformats.org/drawingml/2006/main" noGrp="1"/>
          </p:cNvSpPr>
          <p:nvPr/>
        </p:nvSpPr>
        <p:spPr>
          <a:xfrm xmlns:a="http://schemas.openxmlformats.org/drawingml/2006/main">
            <a:off x="3403600" y="3759200"/>
            <a:ext cx="21844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00" b="1">
                <a:solidFill>
                  <a:srgbClr val="1959F2"/>
                </a:solidFill>
                <a:latin typeface="DejaVu Sans"/>
                <a:ea typeface="DejaVu Sans"/>
                <a:cs typeface="DejaVu Sans"/>
              </a:defRPr>
            </a:pPr>
            <a:r>
              <a:rPr sz="2300" b="1">
                <a:solidFill>
                  <a:srgbClr val="1959F2"/>
                </a:solidFill>
                <a:latin typeface="DejaVu Sans"/>
                <a:ea typeface="DejaVu Sans"/>
                <a:cs typeface="DejaVu Sans"/>
              </a:rPr>
              <a:t>0.677</a:t>
            </a:r>
          </a:p>
        </p:txBody>
      </p:sp>
      <p:sp>
        <p:nvSpPr>
          <p:cNvPr id="22" name="">
            <a:extLst xmlns:a="http://schemas.openxmlformats.org/drawingml/2006/main">
              <a:ext uri="{FF2B5EF4-FFF2-40B4-BE49-F238E27FC236}">
                <a16:creationId xmlns:a16="http://schemas.microsoft.com/office/drawing/2014/main" id="{5F925F2A-CAD0-46EC-8D56-2D9029E93B36}"/>
              </a:ext>
            </a:extLst>
          </p:cNvPr>
          <p:cNvSpPr>
            <a:spLocks xmlns:a="http://schemas.openxmlformats.org/drawingml/2006/main" noGrp="1"/>
          </p:cNvSpPr>
          <p:nvPr/>
        </p:nvSpPr>
        <p:spPr>
          <a:xfrm xmlns:a="http://schemas.openxmlformats.org/drawingml/2006/main">
            <a:off x="3403600" y="4178300"/>
            <a:ext cx="2184400" cy="24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50" b="1">
                <a:solidFill>
                  <a:srgbClr val="232B36"/>
                </a:solidFill>
                <a:latin typeface="DejaVu Sans"/>
                <a:ea typeface="DejaVu Sans"/>
                <a:cs typeface="DejaVu Sans"/>
              </a:defRPr>
            </a:pPr>
            <a:r>
              <a:rPr sz="1150" b="1">
                <a:solidFill>
                  <a:srgbClr val="232B36"/>
                </a:solidFill>
                <a:latin typeface="DejaVu Sans"/>
                <a:ea typeface="DejaVu Sans"/>
                <a:cs typeface="DejaVu Sans"/>
              </a:rPr>
              <a:t>mAP50–95</a:t>
            </a:r>
          </a:p>
        </p:txBody>
      </p:sp>
      <p:sp>
        <p:nvSpPr>
          <p:cNvPr id="23" name="">
            <a:extLst xmlns:a="http://schemas.openxmlformats.org/drawingml/2006/main">
              <a:ext uri="{FF2B5EF4-FFF2-40B4-BE49-F238E27FC236}">
                <a16:creationId xmlns:a16="http://schemas.microsoft.com/office/drawing/2014/main" id="{26008D5A-09B7-4B5C-A5A9-220FAA42AB52}"/>
              </a:ext>
            </a:extLst>
          </p:cNvPr>
          <p:cNvSpPr>
            <a:spLocks xmlns:a="http://schemas.openxmlformats.org/drawingml/2006/main" noGrp="1"/>
          </p:cNvSpPr>
          <p:nvPr/>
        </p:nvSpPr>
        <p:spPr>
          <a:xfrm xmlns:a="http://schemas.openxmlformats.org/drawingml/2006/main">
            <a:off x="3403600" y="4432300"/>
            <a:ext cx="218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70" b="0">
                <a:solidFill>
                  <a:srgbClr val="596778"/>
                </a:solidFill>
                <a:latin typeface="DejaVu Sans"/>
                <a:ea typeface="DejaVu Sans"/>
                <a:cs typeface="DejaVu Sans"/>
              </a:defRPr>
            </a:pPr>
            <a:r>
              <a:rPr sz="870" b="0">
                <a:solidFill>
                  <a:srgbClr val="596778"/>
                </a:solidFill>
                <a:latin typeface="DejaVu Sans"/>
                <a:ea typeface="DejaVu Sans"/>
                <a:cs typeface="DejaVu Sans"/>
              </a:rPr>
              <a:t>Across stricter overlaps</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8d9b8ab2b35f484a"/>
          <a:stretch xmlns:a="http://schemas.openxmlformats.org/drawingml/2006/main"/>
        </p:blipFill>
        <p:spPr>
          <a:xfrm xmlns:a="http://schemas.openxmlformats.org/drawingml/2006/main">
            <a:off x="6398683" y="1790700"/>
            <a:ext cx="4842933" cy="36322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AE2BFB86-270C-4A45-86E9-A912E2456C5B}"/>
              </a:ext>
            </a:extLst>
          </p:cNvPr>
          <p:cNvSpPr>
            <a:spLocks xmlns:a="http://schemas.openxmlformats.org/drawingml/2006/main" noGrp="1"/>
          </p:cNvSpPr>
          <p:nvPr/>
        </p:nvSpPr>
        <p:spPr>
          <a:xfrm xmlns:a="http://schemas.openxmlformats.org/drawingml/2006/main">
            <a:off x="6184900" y="5588000"/>
            <a:ext cx="524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70" b="0">
                <a:solidFill>
                  <a:srgbClr val="596778"/>
                </a:solidFill>
                <a:latin typeface="DejaVu Sans"/>
                <a:ea typeface="DejaVu Sans"/>
                <a:cs typeface="DejaVu Sans"/>
              </a:defRPr>
            </a:pPr>
            <a:r>
              <a:rPr sz="970" b="0">
                <a:solidFill>
                  <a:srgbClr val="596778"/>
                </a:solidFill>
                <a:latin typeface="DejaVu Sans"/>
                <a:ea typeface="DejaVu Sans"/>
                <a:cs typeface="DejaVu Sans"/>
              </a:rPr>
              <a:t>“Background” records unmatched labels or predictions during evaluation. It is not a third class.</a:t>
            </a:r>
          </a:p>
        </p:txBody>
      </p:sp>
      <p:sp>
        <p:nvSpPr>
          <p:cNvPr id="26" name="">
            <a:extLst xmlns:a="http://schemas.openxmlformats.org/drawingml/2006/main">
              <a:ext uri="{FF2B5EF4-FFF2-40B4-BE49-F238E27FC236}">
                <a16:creationId xmlns:a16="http://schemas.microsoft.com/office/drawing/2014/main" id="{EBA9F86F-F692-4DBF-BEB3-C472FA69381B}"/>
              </a:ext>
            </a:extLst>
          </p:cNvPr>
          <p:cNvSpPr>
            <a:spLocks xmlns:a="http://schemas.openxmlformats.org/drawingml/2006/main" noGrp="1"/>
          </p:cNvSpPr>
          <p:nvPr/>
        </p:nvSpPr>
        <p:spPr>
          <a:xfrm xmlns:a="http://schemas.openxmlformats.org/drawingml/2006/main">
            <a:off x="558800" y="5803900"/>
            <a:ext cx="5207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40" b="0">
                <a:solidFill>
                  <a:srgbClr val="596778"/>
                </a:solidFill>
                <a:latin typeface="DejaVu Sans"/>
                <a:ea typeface="DejaVu Sans"/>
                <a:cs typeface="DejaVu Sans"/>
              </a:defRPr>
            </a:pPr>
            <a:r>
              <a:rPr sz="1040" b="0">
                <a:solidFill>
                  <a:srgbClr val="596778"/>
                </a:solidFill>
                <a:latin typeface="DejaVu Sans"/>
                <a:ea typeface="DejaVu Sans"/>
                <a:cs typeface="DejaVu Sans"/>
              </a:rPr>
              <a:t>With only 12 labeled test objects, each miss or extra box can change the summary scores noticeably.</a:t>
            </a:r>
          </a:p>
        </p:txBody>
      </p:sp>
    </p:spTree>
    <p:extLst>
      <p:ext uri="{BB962C8B-B14F-4D97-AF65-F5344CB8AC3E}">
        <p14:creationId xmlns:p14="http://schemas.microsoft.com/office/powerpoint/2010/main" val="12744362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F9D24CC4-D4E0-4FBE-8394-4330A606D93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959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98F0300-BB81-4B32-B0DF-BAA6B347B4F0}"/>
              </a:ext>
            </a:extLst>
          </p:cNvPr>
          <p:cNvSpPr>
            <a:spLocks xmlns:a="http://schemas.openxmlformats.org/drawingml/2006/main" noGrp="1"/>
          </p:cNvSpPr>
          <p:nvPr/>
        </p:nvSpPr>
        <p:spPr>
          <a:xfrm xmlns:a="http://schemas.openxmlformats.org/drawingml/2006/main">
            <a:off x="558800" y="495300"/>
            <a:ext cx="102870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50" b="1">
                <a:solidFill>
                  <a:srgbClr val="1959F2"/>
                </a:solidFill>
                <a:latin typeface="DejaVu Sans"/>
                <a:ea typeface="DejaVu Sans"/>
                <a:cs typeface="DejaVu Sans"/>
              </a:defRPr>
            </a:pPr>
            <a:r>
              <a:rPr sz="950" b="1">
                <a:solidFill>
                  <a:srgbClr val="1959F2"/>
                </a:solidFill>
                <a:latin typeface="DejaVu Sans"/>
                <a:ea typeface="DejaVu Sans"/>
                <a:cs typeface="DejaVu Sans"/>
              </a:rPr>
              <a:t>QUALITATIVE EVIDENCE</a:t>
            </a:r>
          </a:p>
        </p:txBody>
      </p:sp>
      <p:sp>
        <p:nvSpPr>
          <p:cNvPr id="3" name="">
            <a:extLst xmlns:a="http://schemas.openxmlformats.org/drawingml/2006/main">
              <a:ext uri="{FF2B5EF4-FFF2-40B4-BE49-F238E27FC236}">
                <a16:creationId xmlns:a16="http://schemas.microsoft.com/office/drawing/2014/main" id="{997882C7-A8FC-4195-9B06-91FBBBA289FD}"/>
              </a:ext>
            </a:extLst>
          </p:cNvPr>
          <p:cNvSpPr>
            <a:spLocks xmlns:a="http://schemas.openxmlformats.org/drawingml/2006/main" noGrp="1"/>
          </p:cNvSpPr>
          <p:nvPr/>
        </p:nvSpPr>
        <p:spPr>
          <a:xfrm xmlns:a="http://schemas.openxmlformats.org/drawingml/2006/main">
            <a:off x="558800" y="914400"/>
            <a:ext cx="111125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00" b="1">
                <a:solidFill>
                  <a:srgbClr val="232B36"/>
                </a:solidFill>
                <a:latin typeface="DejaVu Sans"/>
                <a:ea typeface="DejaVu Sans"/>
                <a:cs typeface="DejaVu Sans"/>
              </a:defRPr>
            </a:pPr>
            <a:r>
              <a:rPr sz="2500" b="1">
                <a:solidFill>
                  <a:srgbClr val="232B36"/>
                </a:solidFill>
                <a:latin typeface="DejaVu Sans"/>
                <a:ea typeface="DejaVu Sans"/>
                <a:cs typeface="DejaVu Sans"/>
              </a:rPr>
              <a:t>Correct detections and error cases</a:t>
            </a:r>
          </a:p>
        </p:txBody>
      </p:sp>
      <p:sp>
        <p:nvSpPr>
          <p:cNvPr id="4" name="">
            <a:extLst xmlns:a="http://schemas.openxmlformats.org/drawingml/2006/main">
              <a:ext uri="{FF2B5EF4-FFF2-40B4-BE49-F238E27FC236}">
                <a16:creationId xmlns:a16="http://schemas.microsoft.com/office/drawing/2014/main" id="{F864AB74-02DC-4FF8-BD28-A036F48F85ED}"/>
              </a:ext>
            </a:extLst>
          </p:cNvPr>
          <p:cNvSpPr>
            <a:spLocks xmlns:a="http://schemas.openxmlformats.org/drawingml/2006/main" noGrp="1"/>
          </p:cNvSpPr>
          <p:nvPr/>
        </p:nvSpPr>
        <p:spPr>
          <a:xfrm xmlns:a="http://schemas.openxmlformats.org/drawingml/2006/main">
            <a:off x="558800" y="1498600"/>
            <a:ext cx="10998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50" b="0">
                <a:solidFill>
                  <a:srgbClr val="596778"/>
                </a:solidFill>
                <a:latin typeface="DejaVu Sans"/>
                <a:ea typeface="DejaVu Sans"/>
                <a:cs typeface="DejaVu Sans"/>
              </a:defRPr>
            </a:pPr>
            <a:r>
              <a:rPr sz="1150" b="0">
                <a:solidFill>
                  <a:srgbClr val="596778"/>
                </a:solidFill>
                <a:latin typeface="DejaVu Sans"/>
                <a:ea typeface="DejaVu Sans"/>
                <a:cs typeface="DejaVu Sans"/>
              </a:rPr>
              <a:t>Selected predictions at confidence 0.25; the repository documents three FP detections and three FN examples.</a:t>
            </a:r>
          </a:p>
        </p:txBody>
      </p:sp>
      <p:sp>
        <p:nvSpPr>
          <p:cNvPr id="5" name="">
            <a:extLst xmlns:a="http://schemas.openxmlformats.org/drawingml/2006/main">
              <a:ext uri="{FF2B5EF4-FFF2-40B4-BE49-F238E27FC236}">
                <a16:creationId xmlns:a16="http://schemas.microsoft.com/office/drawing/2014/main" id="{F5DC7178-21E8-4EE1-B1BE-DE9B59074245}"/>
              </a:ext>
            </a:extLst>
          </p:cNvPr>
          <p:cNvSpPr>
            <a:spLocks xmlns:a="http://schemas.openxmlformats.org/drawingml/2006/main" noGrp="1"/>
          </p:cNvSpPr>
          <p:nvPr/>
        </p:nvSpPr>
        <p:spPr>
          <a:xfrm xmlns:a="http://schemas.openxmlformats.org/drawingml/2006/main">
            <a:off x="558800" y="6388100"/>
            <a:ext cx="11074400" cy="0"/>
          </a:xfrm>
          <a:prstGeom xmlns:a="http://schemas.openxmlformats.org/drawingml/2006/main" prst="line">
            <a:avLst/>
          </a:prstGeom>
          <a:noFill xmlns:a="http://schemas.openxmlformats.org/drawingml/2006/main"/>
          <a:ln xmlns:a="http://schemas.openxmlformats.org/drawingml/2006/main" w="12700">
            <a:solidFill>
              <a:srgbClr val="DCE4EE"/>
            </a:solidFill>
            <a:prstDash val="solid"/>
          </a:ln>
        </p:spPr>
      </p:sp>
      <p:sp>
        <p:nvSpPr>
          <p:cNvPr id="6" name="">
            <a:extLst xmlns:a="http://schemas.openxmlformats.org/drawingml/2006/main">
              <a:ext uri="{FF2B5EF4-FFF2-40B4-BE49-F238E27FC236}">
                <a16:creationId xmlns:a16="http://schemas.microsoft.com/office/drawing/2014/main" id="{EE2265C4-6157-43B5-A65F-F89F9358C39A}"/>
              </a:ext>
            </a:extLst>
          </p:cNvPr>
          <p:cNvSpPr>
            <a:spLocks xmlns:a="http://schemas.openxmlformats.org/drawingml/2006/main" noGrp="1"/>
          </p:cNvSpPr>
          <p:nvPr/>
        </p:nvSpPr>
        <p:spPr>
          <a:xfrm xmlns:a="http://schemas.openxmlformats.org/drawingml/2006/main">
            <a:off x="558800" y="6502400"/>
            <a:ext cx="863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50" b="0">
                <a:solidFill>
                  <a:srgbClr val="596778"/>
                </a:solidFill>
                <a:latin typeface="DejaVu Sans"/>
                <a:ea typeface="DejaVu Sans"/>
                <a:cs typeface="DejaVu Sans"/>
              </a:defRPr>
            </a:pPr>
            <a:r>
              <a:rPr sz="850" b="0">
                <a:solidFill>
                  <a:srgbClr val="596778"/>
                </a:solidFill>
                <a:latin typeface="DejaVu Sans"/>
                <a:ea typeface="DejaVu Sans"/>
                <a:cs typeface="DejaVu Sans"/>
              </a:rPr>
              <a:t>ASIYA BEGUM  /  M4U3 COMPUTER VISION</a:t>
            </a:r>
          </a:p>
        </p:txBody>
      </p:sp>
      <p:sp>
        <p:nvSpPr>
          <p:cNvPr id="7" name="">
            <a:extLst xmlns:a="http://schemas.openxmlformats.org/drawingml/2006/main">
              <a:ext uri="{FF2B5EF4-FFF2-40B4-BE49-F238E27FC236}">
                <a16:creationId xmlns:a16="http://schemas.microsoft.com/office/drawing/2014/main" id="{5CCB9CF6-4368-4D0F-B7CB-2399310D110F}"/>
              </a:ext>
            </a:extLst>
          </p:cNvPr>
          <p:cNvSpPr>
            <a:spLocks xmlns:a="http://schemas.openxmlformats.org/drawingml/2006/main" noGrp="1"/>
          </p:cNvSpPr>
          <p:nvPr/>
        </p:nvSpPr>
        <p:spPr>
          <a:xfrm xmlns:a="http://schemas.openxmlformats.org/drawingml/2006/main">
            <a:off x="10985500" y="6502400"/>
            <a:ext cx="647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50" b="0">
                <a:solidFill>
                  <a:srgbClr val="596778"/>
                </a:solidFill>
                <a:latin typeface="DejaVu Sans"/>
                <a:ea typeface="DejaVu Sans"/>
                <a:cs typeface="DejaVu Sans"/>
              </a:defRPr>
            </a:pPr>
            <a:r>
              <a:rPr sz="850" b="0">
                <a:solidFill>
                  <a:srgbClr val="596778"/>
                </a:solidFill>
                <a:latin typeface="DejaVu Sans"/>
                <a:ea typeface="DejaVu Sans"/>
                <a:cs typeface="DejaVu Sans"/>
              </a:rPr>
              <a:t>05 / 07</a:t>
            </a:r>
          </a:p>
        </p:txBody>
      </p:sp>
      <p:sp>
        <p:nvSpPr>
          <p:cNvPr id="8" name="">
            <a:extLst xmlns:a="http://schemas.openxmlformats.org/drawingml/2006/main">
              <a:ext uri="{FF2B5EF4-FFF2-40B4-BE49-F238E27FC236}">
                <a16:creationId xmlns:a16="http://schemas.microsoft.com/office/drawing/2014/main" id="{AAB125E3-E54C-44FA-9637-FB5B3DCAF8BC}"/>
              </a:ext>
            </a:extLst>
          </p:cNvPr>
          <p:cNvSpPr>
            <a:spLocks xmlns:a="http://schemas.openxmlformats.org/drawingml/2006/main" noGrp="1"/>
          </p:cNvSpPr>
          <p:nvPr/>
        </p:nvSpPr>
        <p:spPr>
          <a:xfrm xmlns:a="http://schemas.openxmlformats.org/drawingml/2006/main">
            <a:off x="609600" y="1917700"/>
            <a:ext cx="5207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00" b="1">
                <a:solidFill>
                  <a:srgbClr val="1A795F"/>
                </a:solidFill>
                <a:latin typeface="DejaVu Sans"/>
                <a:ea typeface="DejaVu Sans"/>
                <a:cs typeface="DejaVu Sans"/>
              </a:defRPr>
            </a:pPr>
            <a:r>
              <a:rPr sz="1100" b="1">
                <a:solidFill>
                  <a:srgbClr val="1A795F"/>
                </a:solidFill>
                <a:latin typeface="DejaVu Sans"/>
                <a:ea typeface="DejaVu Sans"/>
                <a:cs typeface="DejaVu Sans"/>
              </a:rPr>
              <a:t>WHAT WORKED</a:t>
            </a:r>
          </a:p>
        </p:txBody>
      </p:sp>
      <p:sp>
        <p:nvSpPr>
          <p:cNvPr id="9" name="">
            <a:extLst xmlns:a="http://schemas.openxmlformats.org/drawingml/2006/main">
              <a:ext uri="{FF2B5EF4-FFF2-40B4-BE49-F238E27FC236}">
                <a16:creationId xmlns:a16="http://schemas.microsoft.com/office/drawing/2014/main" id="{B8C2BEFA-01D7-44EE-A54E-61FC950BEFDD}"/>
              </a:ext>
            </a:extLst>
          </p:cNvPr>
          <p:cNvSpPr>
            <a:spLocks xmlns:a="http://schemas.openxmlformats.org/drawingml/2006/main" noGrp="1"/>
          </p:cNvSpPr>
          <p:nvPr/>
        </p:nvSpPr>
        <p:spPr>
          <a:xfrm xmlns:a="http://schemas.openxmlformats.org/drawingml/2006/main">
            <a:off x="6324600" y="1917700"/>
            <a:ext cx="5207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00" b="1">
                <a:solidFill>
                  <a:srgbClr val="AA4E4D"/>
                </a:solidFill>
                <a:latin typeface="DejaVu Sans"/>
                <a:ea typeface="DejaVu Sans"/>
                <a:cs typeface="DejaVu Sans"/>
              </a:defRPr>
            </a:pPr>
            <a:r>
              <a:rPr sz="1100" b="1">
                <a:solidFill>
                  <a:srgbClr val="AA4E4D"/>
                </a:solidFill>
                <a:latin typeface="DejaVu Sans"/>
                <a:ea typeface="DejaVu Sans"/>
                <a:cs typeface="DejaVu Sans"/>
              </a:rPr>
              <a:t>WHAT FAILED</a:t>
            </a:r>
          </a:p>
        </p:txBody>
      </p:sp>
      <p:sp>
        <p:nvSpPr>
          <p:cNvPr id="10" name="">
            <a:extLst xmlns:a="http://schemas.openxmlformats.org/drawingml/2006/main">
              <a:ext uri="{FF2B5EF4-FFF2-40B4-BE49-F238E27FC236}">
                <a16:creationId xmlns:a16="http://schemas.microsoft.com/office/drawing/2014/main" id="{3D182F6D-0D4E-438B-A515-652CA5FA15BE}"/>
              </a:ext>
            </a:extLst>
          </p:cNvPr>
          <p:cNvSpPr>
            <a:spLocks xmlns:a="http://schemas.openxmlformats.org/drawingml/2006/main" noGrp="1"/>
          </p:cNvSpPr>
          <p:nvPr/>
        </p:nvSpPr>
        <p:spPr>
          <a:xfrm xmlns:a="http://schemas.openxmlformats.org/drawingml/2006/main">
            <a:off x="558800" y="2324100"/>
            <a:ext cx="5397500" cy="1219200"/>
          </a:xfrm>
          <a:prstGeom xmlns:a="http://schemas.openxmlformats.org/drawingml/2006/main" prst="roundRect">
            <a:avLst>
              <a:gd name="adj" fmla="val 9375"/>
            </a:avLst>
          </a:prstGeom>
          <a:solidFill xmlns:a="http://schemas.openxmlformats.org/drawingml/2006/main">
            <a:srgbClr val="E9F6F0"/>
          </a:solidFill>
          <a:ln xmlns:a="http://schemas.openxmlformats.org/drawingml/2006/main" w="0">
            <a:noFill/>
          </a:ln>
        </p:spPr>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bab012b3093d4375"/>
          <a:stretch xmlns:a="http://schemas.openxmlformats.org/drawingml/2006/main"/>
        </p:blipFill>
        <p:spPr>
          <a:xfrm xmlns:a="http://schemas.openxmlformats.org/drawingml/2006/main">
            <a:off x="990600" y="2425700"/>
            <a:ext cx="1016000" cy="10160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2341A36E-3CC6-40E1-850C-699F53A2C54B}"/>
              </a:ext>
            </a:extLst>
          </p:cNvPr>
          <p:cNvSpPr>
            <a:spLocks xmlns:a="http://schemas.openxmlformats.org/drawingml/2006/main" noGrp="1"/>
          </p:cNvSpPr>
          <p:nvPr/>
        </p:nvSpPr>
        <p:spPr>
          <a:xfrm xmlns:a="http://schemas.openxmlformats.org/drawingml/2006/main">
            <a:off x="2451100" y="2540000"/>
            <a:ext cx="3340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80" b="1">
                <a:solidFill>
                  <a:srgbClr val="1A795F"/>
                </a:solidFill>
                <a:latin typeface="DejaVu Sans"/>
                <a:ea typeface="DejaVu Sans"/>
                <a:cs typeface="DejaVu Sans"/>
              </a:defRPr>
            </a:pPr>
            <a:r>
              <a:rPr sz="1080" b="1">
                <a:solidFill>
                  <a:srgbClr val="1A795F"/>
                </a:solidFill>
                <a:latin typeface="DejaVu Sans"/>
                <a:ea typeface="DejaVu Sans"/>
                <a:cs typeface="DejaVu Sans"/>
              </a:rPr>
              <a:t>Rear-view backhoe</a:t>
            </a:r>
          </a:p>
        </p:txBody>
      </p:sp>
      <p:sp>
        <p:nvSpPr>
          <p:cNvPr id="13" name="">
            <a:extLst xmlns:a="http://schemas.openxmlformats.org/drawingml/2006/main">
              <a:ext uri="{FF2B5EF4-FFF2-40B4-BE49-F238E27FC236}">
                <a16:creationId xmlns:a16="http://schemas.microsoft.com/office/drawing/2014/main" id="{1C2CEF1B-5A18-4C91-B6D9-A1CE24C1ED76}"/>
              </a:ext>
            </a:extLst>
          </p:cNvPr>
          <p:cNvSpPr>
            <a:spLocks xmlns:a="http://schemas.openxmlformats.org/drawingml/2006/main" noGrp="1"/>
          </p:cNvSpPr>
          <p:nvPr/>
        </p:nvSpPr>
        <p:spPr>
          <a:xfrm xmlns:a="http://schemas.openxmlformats.org/drawingml/2006/main">
            <a:off x="2451100" y="2832100"/>
            <a:ext cx="33401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90" b="0">
                <a:solidFill>
                  <a:srgbClr val="232B36"/>
                </a:solidFill>
                <a:latin typeface="DejaVu Sans"/>
                <a:ea typeface="DejaVu Sans"/>
                <a:cs typeface="DejaVu Sans"/>
              </a:defRPr>
            </a:pPr>
            <a:r>
              <a:rPr sz="990" b="0">
                <a:solidFill>
                  <a:srgbClr val="232B36"/>
                </a:solidFill>
                <a:latin typeface="DejaVu Sans"/>
                <a:ea typeface="DejaVu Sans"/>
                <a:cs typeface="DejaVu Sans"/>
              </a:rPr>
              <a:t>Backhoe Loader 0.85</a:t>
            </a:r>
          </a:p>
        </p:txBody>
      </p:sp>
      <p:sp>
        <p:nvSpPr>
          <p:cNvPr id="14" name="">
            <a:extLst xmlns:a="http://schemas.openxmlformats.org/drawingml/2006/main">
              <a:ext uri="{FF2B5EF4-FFF2-40B4-BE49-F238E27FC236}">
                <a16:creationId xmlns:a16="http://schemas.microsoft.com/office/drawing/2014/main" id="{78C0A404-3C72-4299-95BA-5E7815DE943B}"/>
              </a:ext>
            </a:extLst>
          </p:cNvPr>
          <p:cNvSpPr>
            <a:spLocks xmlns:a="http://schemas.openxmlformats.org/drawingml/2006/main" noGrp="1"/>
          </p:cNvSpPr>
          <p:nvPr/>
        </p:nvSpPr>
        <p:spPr>
          <a:xfrm xmlns:a="http://schemas.openxmlformats.org/drawingml/2006/main">
            <a:off x="558800" y="3619500"/>
            <a:ext cx="5397500" cy="1219200"/>
          </a:xfrm>
          <a:prstGeom xmlns:a="http://schemas.openxmlformats.org/drawingml/2006/main" prst="roundRect">
            <a:avLst>
              <a:gd name="adj" fmla="val 9375"/>
            </a:avLst>
          </a:prstGeom>
          <a:solidFill xmlns:a="http://schemas.openxmlformats.org/drawingml/2006/main">
            <a:srgbClr val="E9F6F0"/>
          </a:solidFill>
          <a:ln xmlns:a="http://schemas.openxmlformats.org/drawingml/2006/main" w="0">
            <a:noFill/>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3080c3522e754c08"/>
          <a:stretch xmlns:a="http://schemas.openxmlformats.org/drawingml/2006/main"/>
        </p:blipFill>
        <p:spPr>
          <a:xfrm xmlns:a="http://schemas.openxmlformats.org/drawingml/2006/main">
            <a:off x="954505" y="3721100"/>
            <a:ext cx="1088189" cy="10160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7149F8D8-7375-4F20-8641-A5071E17A747}"/>
              </a:ext>
            </a:extLst>
          </p:cNvPr>
          <p:cNvSpPr>
            <a:spLocks xmlns:a="http://schemas.openxmlformats.org/drawingml/2006/main" noGrp="1"/>
          </p:cNvSpPr>
          <p:nvPr/>
        </p:nvSpPr>
        <p:spPr>
          <a:xfrm xmlns:a="http://schemas.openxmlformats.org/drawingml/2006/main">
            <a:off x="2451100" y="3835400"/>
            <a:ext cx="3340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80" b="1">
                <a:solidFill>
                  <a:srgbClr val="1A795F"/>
                </a:solidFill>
                <a:latin typeface="DejaVu Sans"/>
                <a:ea typeface="DejaVu Sans"/>
                <a:cs typeface="DejaVu Sans"/>
              </a:defRPr>
            </a:pPr>
            <a:r>
              <a:rPr sz="1080" b="1">
                <a:solidFill>
                  <a:srgbClr val="1A795F"/>
                </a:solidFill>
                <a:latin typeface="DejaVu Sans"/>
                <a:ea typeface="DejaVu Sans"/>
                <a:cs typeface="DejaVu Sans"/>
              </a:rPr>
              <a:t>Partial backhoe</a:t>
            </a:r>
          </a:p>
        </p:txBody>
      </p:sp>
      <p:sp>
        <p:nvSpPr>
          <p:cNvPr id="17" name="">
            <a:extLst xmlns:a="http://schemas.openxmlformats.org/drawingml/2006/main">
              <a:ext uri="{FF2B5EF4-FFF2-40B4-BE49-F238E27FC236}">
                <a16:creationId xmlns:a16="http://schemas.microsoft.com/office/drawing/2014/main" id="{BC46339A-CC33-4958-B092-1D1E79358349}"/>
              </a:ext>
            </a:extLst>
          </p:cNvPr>
          <p:cNvSpPr>
            <a:spLocks xmlns:a="http://schemas.openxmlformats.org/drawingml/2006/main" noGrp="1"/>
          </p:cNvSpPr>
          <p:nvPr/>
        </p:nvSpPr>
        <p:spPr>
          <a:xfrm xmlns:a="http://schemas.openxmlformats.org/drawingml/2006/main">
            <a:off x="2451100" y="4127500"/>
            <a:ext cx="33401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90" b="0">
                <a:solidFill>
                  <a:srgbClr val="232B36"/>
                </a:solidFill>
                <a:latin typeface="DejaVu Sans"/>
                <a:ea typeface="DejaVu Sans"/>
                <a:cs typeface="DejaVu Sans"/>
              </a:defRPr>
            </a:pPr>
            <a:r>
              <a:rPr sz="990" b="0">
                <a:solidFill>
                  <a:srgbClr val="232B36"/>
                </a:solidFill>
                <a:latin typeface="DejaVu Sans"/>
                <a:ea typeface="DejaVu Sans"/>
                <a:cs typeface="DejaVu Sans"/>
              </a:rPr>
              <a:t>Backhoe Loader 0.88</a:t>
            </a:r>
          </a:p>
        </p:txBody>
      </p:sp>
      <p:sp>
        <p:nvSpPr>
          <p:cNvPr id="18" name="">
            <a:extLst xmlns:a="http://schemas.openxmlformats.org/drawingml/2006/main">
              <a:ext uri="{FF2B5EF4-FFF2-40B4-BE49-F238E27FC236}">
                <a16:creationId xmlns:a16="http://schemas.microsoft.com/office/drawing/2014/main" id="{006AA8D0-2A91-4A82-B5AB-BF84A60D0532}"/>
              </a:ext>
            </a:extLst>
          </p:cNvPr>
          <p:cNvSpPr>
            <a:spLocks xmlns:a="http://schemas.openxmlformats.org/drawingml/2006/main" noGrp="1"/>
          </p:cNvSpPr>
          <p:nvPr/>
        </p:nvSpPr>
        <p:spPr>
          <a:xfrm xmlns:a="http://schemas.openxmlformats.org/drawingml/2006/main">
            <a:off x="558800" y="4914900"/>
            <a:ext cx="5397500" cy="1219200"/>
          </a:xfrm>
          <a:prstGeom xmlns:a="http://schemas.openxmlformats.org/drawingml/2006/main" prst="roundRect">
            <a:avLst>
              <a:gd name="adj" fmla="val 9375"/>
            </a:avLst>
          </a:prstGeom>
          <a:solidFill xmlns:a="http://schemas.openxmlformats.org/drawingml/2006/main">
            <a:srgbClr val="E9F6F0"/>
          </a:solidFill>
          <a:ln xmlns:a="http://schemas.openxmlformats.org/drawingml/2006/main" w="0">
            <a:noFill/>
          </a:ln>
        </p:spPr>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75b2b86ebe684988"/>
          <a:stretch xmlns:a="http://schemas.openxmlformats.org/drawingml/2006/main"/>
        </p:blipFill>
        <p:spPr>
          <a:xfrm xmlns:a="http://schemas.openxmlformats.org/drawingml/2006/main">
            <a:off x="989491" y="5016500"/>
            <a:ext cx="1018218" cy="10160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7E9D5CA4-5475-4E3E-8D43-8924DEAA473C}"/>
              </a:ext>
            </a:extLst>
          </p:cNvPr>
          <p:cNvSpPr>
            <a:spLocks xmlns:a="http://schemas.openxmlformats.org/drawingml/2006/main" noGrp="1"/>
          </p:cNvSpPr>
          <p:nvPr/>
        </p:nvSpPr>
        <p:spPr>
          <a:xfrm xmlns:a="http://schemas.openxmlformats.org/drawingml/2006/main">
            <a:off x="2451100" y="5130800"/>
            <a:ext cx="3340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80" b="1">
                <a:solidFill>
                  <a:srgbClr val="1A795F"/>
                </a:solidFill>
                <a:latin typeface="DejaVu Sans"/>
                <a:ea typeface="DejaVu Sans"/>
                <a:cs typeface="DejaVu Sans"/>
              </a:defRPr>
            </a:pPr>
            <a:r>
              <a:rPr sz="1080" b="1">
                <a:solidFill>
                  <a:srgbClr val="1A795F"/>
                </a:solidFill>
                <a:latin typeface="DejaVu Sans"/>
                <a:ea typeface="DejaVu Sans"/>
                <a:cs typeface="DejaVu Sans"/>
              </a:rPr>
              <a:t>Site excavator</a:t>
            </a:r>
          </a:p>
        </p:txBody>
      </p:sp>
      <p:sp>
        <p:nvSpPr>
          <p:cNvPr id="21" name="">
            <a:extLst xmlns:a="http://schemas.openxmlformats.org/drawingml/2006/main">
              <a:ext uri="{FF2B5EF4-FFF2-40B4-BE49-F238E27FC236}">
                <a16:creationId xmlns:a16="http://schemas.microsoft.com/office/drawing/2014/main" id="{D9BF0871-59AB-4934-8D41-906D29FE50F1}"/>
              </a:ext>
            </a:extLst>
          </p:cNvPr>
          <p:cNvSpPr>
            <a:spLocks xmlns:a="http://schemas.openxmlformats.org/drawingml/2006/main" noGrp="1"/>
          </p:cNvSpPr>
          <p:nvPr/>
        </p:nvSpPr>
        <p:spPr>
          <a:xfrm xmlns:a="http://schemas.openxmlformats.org/drawingml/2006/main">
            <a:off x="2451100" y="5422900"/>
            <a:ext cx="33401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90" b="0">
                <a:solidFill>
                  <a:srgbClr val="232B36"/>
                </a:solidFill>
                <a:latin typeface="DejaVu Sans"/>
                <a:ea typeface="DejaVu Sans"/>
                <a:cs typeface="DejaVu Sans"/>
              </a:defRPr>
            </a:pPr>
            <a:r>
              <a:rPr sz="990" b="0">
                <a:solidFill>
                  <a:srgbClr val="232B36"/>
                </a:solidFill>
                <a:latin typeface="DejaVu Sans"/>
                <a:ea typeface="DejaVu Sans"/>
                <a:cs typeface="DejaVu Sans"/>
              </a:rPr>
              <a:t>excavator 0.86</a:t>
            </a:r>
          </a:p>
        </p:txBody>
      </p:sp>
      <p:sp>
        <p:nvSpPr>
          <p:cNvPr id="22" name="">
            <a:extLst xmlns:a="http://schemas.openxmlformats.org/drawingml/2006/main">
              <a:ext uri="{FF2B5EF4-FFF2-40B4-BE49-F238E27FC236}">
                <a16:creationId xmlns:a16="http://schemas.microsoft.com/office/drawing/2014/main" id="{23B6B711-C403-44BF-9E37-35B54F12D183}"/>
              </a:ext>
            </a:extLst>
          </p:cNvPr>
          <p:cNvSpPr>
            <a:spLocks xmlns:a="http://schemas.openxmlformats.org/drawingml/2006/main" noGrp="1"/>
          </p:cNvSpPr>
          <p:nvPr/>
        </p:nvSpPr>
        <p:spPr>
          <a:xfrm xmlns:a="http://schemas.openxmlformats.org/drawingml/2006/main">
            <a:off x="6235700" y="2324100"/>
            <a:ext cx="5397500" cy="1219200"/>
          </a:xfrm>
          <a:prstGeom xmlns:a="http://schemas.openxmlformats.org/drawingml/2006/main" prst="roundRect">
            <a:avLst>
              <a:gd name="adj" fmla="val 9375"/>
            </a:avLst>
          </a:prstGeom>
          <a:solidFill xmlns:a="http://schemas.openxmlformats.org/drawingml/2006/main">
            <a:srgbClr val="FFF1EF"/>
          </a:solidFill>
          <a:ln xmlns:a="http://schemas.openxmlformats.org/drawingml/2006/main" w="0">
            <a:noFill/>
          </a:ln>
        </p:spPr>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490d266923f144a4"/>
          <a:stretch xmlns:a="http://schemas.openxmlformats.org/drawingml/2006/main"/>
        </p:blipFill>
        <p:spPr>
          <a:xfrm xmlns:a="http://schemas.openxmlformats.org/drawingml/2006/main">
            <a:off x="6666391" y="2425700"/>
            <a:ext cx="1018218" cy="10160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CC2BB58C-96B2-43BD-9CC6-9BA090EFB527}"/>
              </a:ext>
            </a:extLst>
          </p:cNvPr>
          <p:cNvSpPr>
            <a:spLocks xmlns:a="http://schemas.openxmlformats.org/drawingml/2006/main" noGrp="1"/>
          </p:cNvSpPr>
          <p:nvPr/>
        </p:nvSpPr>
        <p:spPr>
          <a:xfrm xmlns:a="http://schemas.openxmlformats.org/drawingml/2006/main">
            <a:off x="8128000" y="2540000"/>
            <a:ext cx="3340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80" b="1">
                <a:solidFill>
                  <a:srgbClr val="AA4E4D"/>
                </a:solidFill>
                <a:latin typeface="DejaVu Sans"/>
                <a:ea typeface="DejaVu Sans"/>
                <a:cs typeface="DejaVu Sans"/>
              </a:defRPr>
            </a:pPr>
            <a:r>
              <a:rPr sz="1080" b="1">
                <a:solidFill>
                  <a:srgbClr val="AA4E4D"/>
                </a:solidFill>
                <a:latin typeface="DejaVu Sans"/>
                <a:ea typeface="DejaVu Sans"/>
                <a:cs typeface="DejaVu Sans"/>
              </a:rPr>
              <a:t>Two False Positives</a:t>
            </a:r>
          </a:p>
        </p:txBody>
      </p:sp>
      <p:sp>
        <p:nvSpPr>
          <p:cNvPr id="25" name="">
            <a:extLst xmlns:a="http://schemas.openxmlformats.org/drawingml/2006/main">
              <a:ext uri="{FF2B5EF4-FFF2-40B4-BE49-F238E27FC236}">
                <a16:creationId xmlns:a16="http://schemas.microsoft.com/office/drawing/2014/main" id="{DB76F566-07F6-410E-AA8E-1B49C9B080C0}"/>
              </a:ext>
            </a:extLst>
          </p:cNvPr>
          <p:cNvSpPr>
            <a:spLocks xmlns:a="http://schemas.openxmlformats.org/drawingml/2006/main" noGrp="1"/>
          </p:cNvSpPr>
          <p:nvPr/>
        </p:nvSpPr>
        <p:spPr>
          <a:xfrm xmlns:a="http://schemas.openxmlformats.org/drawingml/2006/main">
            <a:off x="8128000" y="2832100"/>
            <a:ext cx="33401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90" b="0">
                <a:solidFill>
                  <a:srgbClr val="232B36"/>
                </a:solidFill>
                <a:latin typeface="DejaVu Sans"/>
                <a:ea typeface="DejaVu Sans"/>
                <a:cs typeface="DejaVu Sans"/>
              </a:defRPr>
            </a:pPr>
            <a:r>
              <a:rPr sz="990" b="0">
                <a:solidFill>
                  <a:srgbClr val="232B36"/>
                </a:solidFill>
                <a:latin typeface="DejaVu Sans"/>
                <a:ea typeface="DejaVu Sans"/>
                <a:cs typeface="DejaVu Sans"/>
              </a:rPr>
              <a:t>Negative tractor: Backhoe Loader 0.37; excavator 0.35.</a:t>
            </a:r>
          </a:p>
        </p:txBody>
      </p:sp>
      <p:sp>
        <p:nvSpPr>
          <p:cNvPr id="26" name="">
            <a:extLst xmlns:a="http://schemas.openxmlformats.org/drawingml/2006/main">
              <a:ext uri="{FF2B5EF4-FFF2-40B4-BE49-F238E27FC236}">
                <a16:creationId xmlns:a16="http://schemas.microsoft.com/office/drawing/2014/main" id="{E77DE492-B867-4723-BDA7-F55F9FE10E2C}"/>
              </a:ext>
            </a:extLst>
          </p:cNvPr>
          <p:cNvSpPr>
            <a:spLocks xmlns:a="http://schemas.openxmlformats.org/drawingml/2006/main" noGrp="1"/>
          </p:cNvSpPr>
          <p:nvPr/>
        </p:nvSpPr>
        <p:spPr>
          <a:xfrm xmlns:a="http://schemas.openxmlformats.org/drawingml/2006/main">
            <a:off x="6235700" y="3619500"/>
            <a:ext cx="5397500" cy="1219200"/>
          </a:xfrm>
          <a:prstGeom xmlns:a="http://schemas.openxmlformats.org/drawingml/2006/main" prst="roundRect">
            <a:avLst>
              <a:gd name="adj" fmla="val 9375"/>
            </a:avLst>
          </a:prstGeom>
          <a:solidFill xmlns:a="http://schemas.openxmlformats.org/drawingml/2006/main">
            <a:srgbClr val="FFF1EF"/>
          </a:solidFill>
          <a:ln xmlns:a="http://schemas.openxmlformats.org/drawingml/2006/main" w="0">
            <a:noFill/>
          </a:ln>
        </p:spPr>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6adcdaa268ac473b"/>
          <a:stretch xmlns:a="http://schemas.openxmlformats.org/drawingml/2006/main"/>
        </p:blipFill>
        <p:spPr>
          <a:xfrm xmlns:a="http://schemas.openxmlformats.org/drawingml/2006/main">
            <a:off x="6667500" y="3721100"/>
            <a:ext cx="1016000" cy="101600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71BFF489-51AA-42C9-8C10-6583502BF3BB}"/>
              </a:ext>
            </a:extLst>
          </p:cNvPr>
          <p:cNvSpPr>
            <a:spLocks xmlns:a="http://schemas.openxmlformats.org/drawingml/2006/main" noGrp="1"/>
          </p:cNvSpPr>
          <p:nvPr/>
        </p:nvSpPr>
        <p:spPr>
          <a:xfrm xmlns:a="http://schemas.openxmlformats.org/drawingml/2006/main">
            <a:off x="8128000" y="3835400"/>
            <a:ext cx="3340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80" b="1">
                <a:solidFill>
                  <a:srgbClr val="AA4E4D"/>
                </a:solidFill>
                <a:latin typeface="DejaVu Sans"/>
                <a:ea typeface="DejaVu Sans"/>
                <a:cs typeface="DejaVu Sans"/>
              </a:defRPr>
            </a:pPr>
            <a:r>
              <a:rPr sz="1080" b="1">
                <a:solidFill>
                  <a:srgbClr val="AA4E4D"/>
                </a:solidFill>
                <a:latin typeface="DejaVu Sans"/>
                <a:ea typeface="DejaVu Sans"/>
                <a:cs typeface="DejaVu Sans"/>
              </a:rPr>
              <a:t>False negative</a:t>
            </a:r>
          </a:p>
        </p:txBody>
      </p:sp>
      <p:sp>
        <p:nvSpPr>
          <p:cNvPr id="29" name="">
            <a:extLst xmlns:a="http://schemas.openxmlformats.org/drawingml/2006/main">
              <a:ext uri="{FF2B5EF4-FFF2-40B4-BE49-F238E27FC236}">
                <a16:creationId xmlns:a16="http://schemas.microsoft.com/office/drawing/2014/main" id="{C4C26C90-3F07-41A1-BEE1-B4182B99DABF}"/>
              </a:ext>
            </a:extLst>
          </p:cNvPr>
          <p:cNvSpPr>
            <a:spLocks xmlns:a="http://schemas.openxmlformats.org/drawingml/2006/main" noGrp="1"/>
          </p:cNvSpPr>
          <p:nvPr/>
        </p:nvSpPr>
        <p:spPr>
          <a:xfrm xmlns:a="http://schemas.openxmlformats.org/drawingml/2006/main">
            <a:off x="8128000" y="4127500"/>
            <a:ext cx="33401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90" b="0">
                <a:solidFill>
                  <a:srgbClr val="232B36"/>
                </a:solidFill>
                <a:latin typeface="DejaVu Sans"/>
                <a:ea typeface="DejaVu Sans"/>
                <a:cs typeface="DejaVu Sans"/>
              </a:defRPr>
            </a:pPr>
            <a:r>
              <a:rPr sz="990" b="0">
                <a:solidFill>
                  <a:srgbClr val="232B36"/>
                </a:solidFill>
                <a:latin typeface="DejaVu Sans"/>
                <a:ea typeface="DejaVu Sans"/>
                <a:cs typeface="DejaVu Sans"/>
              </a:rPr>
              <a:t>Sideways backhoe loader: no detection.</a:t>
            </a:r>
          </a:p>
        </p:txBody>
      </p:sp>
      <p:sp>
        <p:nvSpPr>
          <p:cNvPr id="30" name="">
            <a:extLst xmlns:a="http://schemas.openxmlformats.org/drawingml/2006/main">
              <a:ext uri="{FF2B5EF4-FFF2-40B4-BE49-F238E27FC236}">
                <a16:creationId xmlns:a16="http://schemas.microsoft.com/office/drawing/2014/main" id="{E0B9B16F-3DF7-4759-BDCF-C864272BD756}"/>
              </a:ext>
            </a:extLst>
          </p:cNvPr>
          <p:cNvSpPr>
            <a:spLocks xmlns:a="http://schemas.openxmlformats.org/drawingml/2006/main" noGrp="1"/>
          </p:cNvSpPr>
          <p:nvPr/>
        </p:nvSpPr>
        <p:spPr>
          <a:xfrm xmlns:a="http://schemas.openxmlformats.org/drawingml/2006/main">
            <a:off x="6235700" y="4914900"/>
            <a:ext cx="5397500" cy="1219200"/>
          </a:xfrm>
          <a:prstGeom xmlns:a="http://schemas.openxmlformats.org/drawingml/2006/main" prst="roundRect">
            <a:avLst>
              <a:gd name="adj" fmla="val 9375"/>
            </a:avLst>
          </a:prstGeom>
          <a:solidFill xmlns:a="http://schemas.openxmlformats.org/drawingml/2006/main">
            <a:srgbClr val="FFF1EF"/>
          </a:solidFill>
          <a:ln xmlns:a="http://schemas.openxmlformats.org/drawingml/2006/main" w="0">
            <a:noFill/>
          </a:ln>
        </p:spPr>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e743f9a968d24b33"/>
          <a:stretch xmlns:a="http://schemas.openxmlformats.org/drawingml/2006/main"/>
        </p:blipFill>
        <p:spPr>
          <a:xfrm xmlns:a="http://schemas.openxmlformats.org/drawingml/2006/main">
            <a:off x="6668607" y="5016500"/>
            <a:ext cx="1013786" cy="101600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A70A76BA-1511-4276-BB1D-877F4D24D019}"/>
              </a:ext>
            </a:extLst>
          </p:cNvPr>
          <p:cNvSpPr>
            <a:spLocks xmlns:a="http://schemas.openxmlformats.org/drawingml/2006/main" noGrp="1"/>
          </p:cNvSpPr>
          <p:nvPr/>
        </p:nvSpPr>
        <p:spPr>
          <a:xfrm xmlns:a="http://schemas.openxmlformats.org/drawingml/2006/main">
            <a:off x="8128000" y="5130800"/>
            <a:ext cx="3340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80" b="1">
                <a:solidFill>
                  <a:srgbClr val="AA4E4D"/>
                </a:solidFill>
                <a:latin typeface="DejaVu Sans"/>
                <a:ea typeface="DejaVu Sans"/>
                <a:cs typeface="DejaVu Sans"/>
              </a:defRPr>
            </a:pPr>
            <a:r>
              <a:rPr sz="1080" b="1">
                <a:solidFill>
                  <a:srgbClr val="AA4E4D"/>
                </a:solidFill>
                <a:latin typeface="DejaVu Sans"/>
                <a:ea typeface="DejaVu Sans"/>
                <a:cs typeface="DejaVu Sans"/>
              </a:rPr>
              <a:t>Duplicate False Positive</a:t>
            </a:r>
          </a:p>
        </p:txBody>
      </p:sp>
      <p:sp>
        <p:nvSpPr>
          <p:cNvPr id="33" name="">
            <a:extLst xmlns:a="http://schemas.openxmlformats.org/drawingml/2006/main">
              <a:ext uri="{FF2B5EF4-FFF2-40B4-BE49-F238E27FC236}">
                <a16:creationId xmlns:a16="http://schemas.microsoft.com/office/drawing/2014/main" id="{006D45E0-8ECC-4E84-9321-2920C769D866}"/>
              </a:ext>
            </a:extLst>
          </p:cNvPr>
          <p:cNvSpPr>
            <a:spLocks xmlns:a="http://schemas.openxmlformats.org/drawingml/2006/main" noGrp="1"/>
          </p:cNvSpPr>
          <p:nvPr/>
        </p:nvSpPr>
        <p:spPr>
          <a:xfrm xmlns:a="http://schemas.openxmlformats.org/drawingml/2006/main">
            <a:off x="8128000" y="5422900"/>
            <a:ext cx="33401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90" b="0">
                <a:solidFill>
                  <a:srgbClr val="232B36"/>
                </a:solidFill>
                <a:latin typeface="DejaVu Sans"/>
                <a:ea typeface="DejaVu Sans"/>
                <a:cs typeface="DejaVu Sans"/>
              </a:defRPr>
            </a:pPr>
            <a:r>
              <a:rPr sz="990" b="0">
                <a:solidFill>
                  <a:srgbClr val="232B36"/>
                </a:solidFill>
                <a:latin typeface="DejaVu Sans"/>
                <a:ea typeface="DejaVu Sans"/>
                <a:cs typeface="DejaVu Sans"/>
              </a:rPr>
              <a:t>One excavator: two overlapping boxes.</a:t>
            </a:r>
          </a:p>
        </p:txBody>
      </p:sp>
    </p:spTree>
    <p:extLst>
      <p:ext uri="{BB962C8B-B14F-4D97-AF65-F5344CB8AC3E}">
        <p14:creationId xmlns:p14="http://schemas.microsoft.com/office/powerpoint/2010/main" val="12593598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768ABA4-A714-4DC3-8044-77D2528CC96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959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31D6DD2-CBCD-43CF-A1E4-A47B585DE4E5}"/>
              </a:ext>
            </a:extLst>
          </p:cNvPr>
          <p:cNvSpPr>
            <a:spLocks xmlns:a="http://schemas.openxmlformats.org/drawingml/2006/main" noGrp="1"/>
          </p:cNvSpPr>
          <p:nvPr/>
        </p:nvSpPr>
        <p:spPr>
          <a:xfrm xmlns:a="http://schemas.openxmlformats.org/drawingml/2006/main">
            <a:off x="558800" y="495300"/>
            <a:ext cx="102870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50" b="1">
                <a:solidFill>
                  <a:srgbClr val="1959F2"/>
                </a:solidFill>
                <a:latin typeface="DejaVu Sans"/>
                <a:ea typeface="DejaVu Sans"/>
                <a:cs typeface="DejaVu Sans"/>
              </a:defRPr>
            </a:pPr>
            <a:r>
              <a:rPr sz="950" b="1">
                <a:solidFill>
                  <a:srgbClr val="1959F2"/>
                </a:solidFill>
                <a:latin typeface="DejaVu Sans"/>
                <a:ea typeface="DejaVu Sans"/>
                <a:cs typeface="DejaVu Sans"/>
              </a:rPr>
              <a:t>FALSE NEGATIVE INVESTIGATION</a:t>
            </a:r>
          </a:p>
        </p:txBody>
      </p:sp>
      <p:sp>
        <p:nvSpPr>
          <p:cNvPr id="3" name="">
            <a:extLst xmlns:a="http://schemas.openxmlformats.org/drawingml/2006/main">
              <a:ext uri="{FF2B5EF4-FFF2-40B4-BE49-F238E27FC236}">
                <a16:creationId xmlns:a16="http://schemas.microsoft.com/office/drawing/2014/main" id="{844F87B5-C2EE-4147-BFBA-EE7456274E44}"/>
              </a:ext>
            </a:extLst>
          </p:cNvPr>
          <p:cNvSpPr>
            <a:spLocks xmlns:a="http://schemas.openxmlformats.org/drawingml/2006/main" noGrp="1"/>
          </p:cNvSpPr>
          <p:nvPr/>
        </p:nvSpPr>
        <p:spPr>
          <a:xfrm xmlns:a="http://schemas.openxmlformats.org/drawingml/2006/main">
            <a:off x="558800" y="914400"/>
            <a:ext cx="111125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00" b="1">
                <a:solidFill>
                  <a:srgbClr val="232B36"/>
                </a:solidFill>
                <a:latin typeface="DejaVu Sans"/>
                <a:ea typeface="DejaVu Sans"/>
                <a:cs typeface="DejaVu Sans"/>
              </a:defRPr>
            </a:pPr>
            <a:r>
              <a:rPr sz="2500" b="1">
                <a:solidFill>
                  <a:srgbClr val="232B36"/>
                </a:solidFill>
                <a:latin typeface="DejaVu Sans"/>
                <a:ea typeface="DejaVu Sans"/>
                <a:cs typeface="DejaVu Sans"/>
              </a:rPr>
              <a:t>Investigation of a missed backhoe loader</a:t>
            </a:r>
          </a:p>
        </p:txBody>
      </p:sp>
      <p:sp>
        <p:nvSpPr>
          <p:cNvPr id="4" name="">
            <a:extLst xmlns:a="http://schemas.openxmlformats.org/drawingml/2006/main">
              <a:ext uri="{FF2B5EF4-FFF2-40B4-BE49-F238E27FC236}">
                <a16:creationId xmlns:a16="http://schemas.microsoft.com/office/drawing/2014/main" id="{4762EC44-7D82-4B29-AFEB-2746C15D0685}"/>
              </a:ext>
            </a:extLst>
          </p:cNvPr>
          <p:cNvSpPr>
            <a:spLocks xmlns:a="http://schemas.openxmlformats.org/drawingml/2006/main" noGrp="1"/>
          </p:cNvSpPr>
          <p:nvPr/>
        </p:nvSpPr>
        <p:spPr>
          <a:xfrm xmlns:a="http://schemas.openxmlformats.org/drawingml/2006/main">
            <a:off x="558800" y="1498600"/>
            <a:ext cx="10998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50" b="0">
                <a:solidFill>
                  <a:srgbClr val="596778"/>
                </a:solidFill>
                <a:latin typeface="DejaVu Sans"/>
                <a:ea typeface="DejaVu Sans"/>
                <a:cs typeface="DejaVu Sans"/>
              </a:defRPr>
            </a:pPr>
            <a:r>
              <a:rPr sz="1150" b="0">
                <a:solidFill>
                  <a:srgbClr val="596778"/>
                </a:solidFill>
                <a:latin typeface="DejaVu Sans"/>
                <a:ea typeface="DejaVu Sans"/>
                <a:cs typeface="DejaVu Sans"/>
              </a:rPr>
              <a:t>The labeled target received no box. Auto-orient was enabled, but this exported photo remained sideways.</a:t>
            </a:r>
          </a:p>
        </p:txBody>
      </p:sp>
      <p:sp>
        <p:nvSpPr>
          <p:cNvPr id="5" name="">
            <a:extLst xmlns:a="http://schemas.openxmlformats.org/drawingml/2006/main">
              <a:ext uri="{FF2B5EF4-FFF2-40B4-BE49-F238E27FC236}">
                <a16:creationId xmlns:a16="http://schemas.microsoft.com/office/drawing/2014/main" id="{33BB46AC-F0B6-4697-A3E8-2ED57BAA78D2}"/>
              </a:ext>
            </a:extLst>
          </p:cNvPr>
          <p:cNvSpPr>
            <a:spLocks xmlns:a="http://schemas.openxmlformats.org/drawingml/2006/main" noGrp="1"/>
          </p:cNvSpPr>
          <p:nvPr/>
        </p:nvSpPr>
        <p:spPr>
          <a:xfrm xmlns:a="http://schemas.openxmlformats.org/drawingml/2006/main">
            <a:off x="558800" y="6388100"/>
            <a:ext cx="11074400" cy="0"/>
          </a:xfrm>
          <a:prstGeom xmlns:a="http://schemas.openxmlformats.org/drawingml/2006/main" prst="line">
            <a:avLst/>
          </a:prstGeom>
          <a:noFill xmlns:a="http://schemas.openxmlformats.org/drawingml/2006/main"/>
          <a:ln xmlns:a="http://schemas.openxmlformats.org/drawingml/2006/main" w="12700">
            <a:solidFill>
              <a:srgbClr val="DCE4EE"/>
            </a:solidFill>
            <a:prstDash val="solid"/>
          </a:ln>
        </p:spPr>
      </p:sp>
      <p:sp>
        <p:nvSpPr>
          <p:cNvPr id="6" name="">
            <a:extLst xmlns:a="http://schemas.openxmlformats.org/drawingml/2006/main">
              <a:ext uri="{FF2B5EF4-FFF2-40B4-BE49-F238E27FC236}">
                <a16:creationId xmlns:a16="http://schemas.microsoft.com/office/drawing/2014/main" id="{3F7A5A24-77AE-466B-91F5-9948D2B9490D}"/>
              </a:ext>
            </a:extLst>
          </p:cNvPr>
          <p:cNvSpPr>
            <a:spLocks xmlns:a="http://schemas.openxmlformats.org/drawingml/2006/main" noGrp="1"/>
          </p:cNvSpPr>
          <p:nvPr/>
        </p:nvSpPr>
        <p:spPr>
          <a:xfrm xmlns:a="http://schemas.openxmlformats.org/drawingml/2006/main">
            <a:off x="558800" y="6502400"/>
            <a:ext cx="863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50" b="0">
                <a:solidFill>
                  <a:srgbClr val="596778"/>
                </a:solidFill>
                <a:latin typeface="DejaVu Sans"/>
                <a:ea typeface="DejaVu Sans"/>
                <a:cs typeface="DejaVu Sans"/>
              </a:defRPr>
            </a:pPr>
            <a:r>
              <a:rPr sz="850" b="0">
                <a:solidFill>
                  <a:srgbClr val="596778"/>
                </a:solidFill>
                <a:latin typeface="DejaVu Sans"/>
                <a:ea typeface="DejaVu Sans"/>
                <a:cs typeface="DejaVu Sans"/>
              </a:rPr>
              <a:t>ASIYA BEGUM  /  M4U3 COMPUTER VISION</a:t>
            </a:r>
          </a:p>
        </p:txBody>
      </p:sp>
      <p:sp>
        <p:nvSpPr>
          <p:cNvPr id="7" name="">
            <a:extLst xmlns:a="http://schemas.openxmlformats.org/drawingml/2006/main">
              <a:ext uri="{FF2B5EF4-FFF2-40B4-BE49-F238E27FC236}">
                <a16:creationId xmlns:a16="http://schemas.microsoft.com/office/drawing/2014/main" id="{91FD7CD0-E73B-4749-814F-14BD92524908}"/>
              </a:ext>
            </a:extLst>
          </p:cNvPr>
          <p:cNvSpPr>
            <a:spLocks xmlns:a="http://schemas.openxmlformats.org/drawingml/2006/main" noGrp="1"/>
          </p:cNvSpPr>
          <p:nvPr/>
        </p:nvSpPr>
        <p:spPr>
          <a:xfrm xmlns:a="http://schemas.openxmlformats.org/drawingml/2006/main">
            <a:off x="10985500" y="6502400"/>
            <a:ext cx="647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50" b="0">
                <a:solidFill>
                  <a:srgbClr val="596778"/>
                </a:solidFill>
                <a:latin typeface="DejaVu Sans"/>
                <a:ea typeface="DejaVu Sans"/>
                <a:cs typeface="DejaVu Sans"/>
              </a:defRPr>
            </a:pPr>
            <a:r>
              <a:rPr sz="850" b="0">
                <a:solidFill>
                  <a:srgbClr val="596778"/>
                </a:solidFill>
                <a:latin typeface="DejaVu Sans"/>
                <a:ea typeface="DejaVu Sans"/>
                <a:cs typeface="DejaVu Sans"/>
              </a:rPr>
              <a:t>06 / 07</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f2f9365094a45f7"/>
          <a:stretch xmlns:a="http://schemas.openxmlformats.org/drawingml/2006/main"/>
        </p:blipFill>
        <p:spPr>
          <a:xfrm xmlns:a="http://schemas.openxmlformats.org/drawingml/2006/main">
            <a:off x="3084129" y="2032000"/>
            <a:ext cx="6023741" cy="31115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CCAE4D7-2387-4DD4-941F-F6377B0DD48B}"/>
              </a:ext>
            </a:extLst>
          </p:cNvPr>
          <p:cNvSpPr>
            <a:spLocks xmlns:a="http://schemas.openxmlformats.org/drawingml/2006/main" noGrp="1"/>
          </p:cNvSpPr>
          <p:nvPr/>
        </p:nvSpPr>
        <p:spPr>
          <a:xfrm xmlns:a="http://schemas.openxmlformats.org/drawingml/2006/main">
            <a:off x="558800" y="5283200"/>
            <a:ext cx="11074400" cy="787400"/>
          </a:xfrm>
          <a:prstGeom xmlns:a="http://schemas.openxmlformats.org/drawingml/2006/main" prst="roundRect">
            <a:avLst>
              <a:gd name="adj" fmla="val 14516"/>
            </a:avLst>
          </a:prstGeom>
          <a:solidFill xmlns:a="http://schemas.openxmlformats.org/drawingml/2006/main">
            <a:srgbClr val="EDF3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896E3DB-BBEC-444E-BAC3-97922C37BE19}"/>
              </a:ext>
            </a:extLst>
          </p:cNvPr>
          <p:cNvSpPr>
            <a:spLocks xmlns:a="http://schemas.openxmlformats.org/drawingml/2006/main" noGrp="1"/>
          </p:cNvSpPr>
          <p:nvPr/>
        </p:nvSpPr>
        <p:spPr>
          <a:xfrm xmlns:a="http://schemas.openxmlformats.org/drawingml/2006/main">
            <a:off x="762000" y="5473700"/>
            <a:ext cx="10668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0" b="0">
                <a:solidFill>
                  <a:srgbClr val="232B36"/>
                </a:solidFill>
                <a:latin typeface="DejaVu Sans"/>
                <a:ea typeface="DejaVu Sans"/>
                <a:cs typeface="DejaVu Sans"/>
              </a:defRPr>
            </a:pPr>
            <a:r>
              <a:rPr sz="1120" b="0">
                <a:solidFill>
                  <a:srgbClr val="232B36"/>
                </a:solidFill>
                <a:latin typeface="DejaVu Sans"/>
                <a:ea typeface="DejaVu Sans"/>
                <a:cs typeface="DejaVu Sans"/>
              </a:rPr>
              <a:t>As exported: no detection at confidence 0.25. Rotated upright: Backhoe Loader 0.81 with the same checkpoint. Check image orientation during data cleaning and add realistic tilted views. This diagnostic does not change the original test score.</a:t>
            </a:r>
          </a:p>
        </p:txBody>
      </p:sp>
    </p:spTree>
    <p:extLst>
      <p:ext uri="{BB962C8B-B14F-4D97-AF65-F5344CB8AC3E}">
        <p14:creationId xmlns:p14="http://schemas.microsoft.com/office/powerpoint/2010/main" val="111777282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51DEA2A-ED5C-48F3-8F0E-99EC634872F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1959F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67370EA-F325-42B5-B1DC-D3AEF50A73A8}"/>
              </a:ext>
            </a:extLst>
          </p:cNvPr>
          <p:cNvSpPr>
            <a:spLocks xmlns:a="http://schemas.openxmlformats.org/drawingml/2006/main" noGrp="1"/>
          </p:cNvSpPr>
          <p:nvPr/>
        </p:nvSpPr>
        <p:spPr>
          <a:xfrm xmlns:a="http://schemas.openxmlformats.org/drawingml/2006/main">
            <a:off x="558800" y="495300"/>
            <a:ext cx="102870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50" b="1">
                <a:solidFill>
                  <a:srgbClr val="1959F2"/>
                </a:solidFill>
                <a:latin typeface="DejaVu Sans"/>
                <a:ea typeface="DejaVu Sans"/>
                <a:cs typeface="DejaVu Sans"/>
              </a:defRPr>
            </a:pPr>
            <a:r>
              <a:rPr sz="950" b="1">
                <a:solidFill>
                  <a:srgbClr val="1959F2"/>
                </a:solidFill>
                <a:latin typeface="DejaVu Sans"/>
                <a:ea typeface="DejaVu Sans"/>
                <a:cs typeface="DejaVu Sans"/>
              </a:rPr>
              <a:t>CONCLUSION AND HANDOVER</a:t>
            </a:r>
          </a:p>
        </p:txBody>
      </p:sp>
      <p:sp>
        <p:nvSpPr>
          <p:cNvPr id="3" name="">
            <a:extLst xmlns:a="http://schemas.openxmlformats.org/drawingml/2006/main">
              <a:ext uri="{FF2B5EF4-FFF2-40B4-BE49-F238E27FC236}">
                <a16:creationId xmlns:a16="http://schemas.microsoft.com/office/drawing/2014/main" id="{8FDB8BCF-9E5D-4CE7-802E-2F6ECED926B9}"/>
              </a:ext>
            </a:extLst>
          </p:cNvPr>
          <p:cNvSpPr>
            <a:spLocks xmlns:a="http://schemas.openxmlformats.org/drawingml/2006/main" noGrp="1"/>
          </p:cNvSpPr>
          <p:nvPr/>
        </p:nvSpPr>
        <p:spPr>
          <a:xfrm xmlns:a="http://schemas.openxmlformats.org/drawingml/2006/main">
            <a:off x="558800" y="914400"/>
            <a:ext cx="111125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00" b="1">
                <a:solidFill>
                  <a:srgbClr val="232B36"/>
                </a:solidFill>
                <a:latin typeface="DejaVu Sans"/>
                <a:ea typeface="DejaVu Sans"/>
                <a:cs typeface="DejaVu Sans"/>
              </a:defRPr>
            </a:pPr>
            <a:r>
              <a:rPr sz="2500" b="1">
                <a:solidFill>
                  <a:srgbClr val="232B36"/>
                </a:solidFill>
                <a:latin typeface="DejaVu Sans"/>
                <a:ea typeface="DejaVu Sans"/>
                <a:cs typeface="DejaVu Sans"/>
              </a:rPr>
              <a:t>Workable Detection Prototype</a:t>
            </a:r>
          </a:p>
        </p:txBody>
      </p:sp>
      <p:sp>
        <p:nvSpPr>
          <p:cNvPr id="4" name="">
            <a:extLst xmlns:a="http://schemas.openxmlformats.org/drawingml/2006/main">
              <a:ext uri="{FF2B5EF4-FFF2-40B4-BE49-F238E27FC236}">
                <a16:creationId xmlns:a16="http://schemas.microsoft.com/office/drawing/2014/main" id="{30F8277F-2DD7-4DE6-8EC7-6A8AAB82A95A}"/>
              </a:ext>
            </a:extLst>
          </p:cNvPr>
          <p:cNvSpPr>
            <a:spLocks xmlns:a="http://schemas.openxmlformats.org/drawingml/2006/main" noGrp="1"/>
          </p:cNvSpPr>
          <p:nvPr/>
        </p:nvSpPr>
        <p:spPr>
          <a:xfrm xmlns:a="http://schemas.openxmlformats.org/drawingml/2006/main">
            <a:off x="558800" y="1498600"/>
            <a:ext cx="10998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50" b="0">
                <a:solidFill>
                  <a:srgbClr val="596778"/>
                </a:solidFill>
                <a:latin typeface="DejaVu Sans"/>
                <a:ea typeface="DejaVu Sans"/>
                <a:cs typeface="DejaVu Sans"/>
              </a:defRPr>
            </a:pPr>
            <a:r>
              <a:rPr sz="1150" b="0">
                <a:solidFill>
                  <a:srgbClr val="596778"/>
                </a:solidFill>
                <a:latin typeface="DejaVu Sans"/>
                <a:ea typeface="DejaVu Sans"/>
                <a:cs typeface="DejaVu Sans"/>
              </a:rPr>
              <a:t>The model detects equipment presence in individual images, with known limits.</a:t>
            </a:r>
          </a:p>
        </p:txBody>
      </p:sp>
      <p:sp>
        <p:nvSpPr>
          <p:cNvPr id="5" name="">
            <a:extLst xmlns:a="http://schemas.openxmlformats.org/drawingml/2006/main">
              <a:ext uri="{FF2B5EF4-FFF2-40B4-BE49-F238E27FC236}">
                <a16:creationId xmlns:a16="http://schemas.microsoft.com/office/drawing/2014/main" id="{E2B10838-3966-4EF8-AF43-DEC6FF09E0CE}"/>
              </a:ext>
            </a:extLst>
          </p:cNvPr>
          <p:cNvSpPr>
            <a:spLocks xmlns:a="http://schemas.openxmlformats.org/drawingml/2006/main" noGrp="1"/>
          </p:cNvSpPr>
          <p:nvPr/>
        </p:nvSpPr>
        <p:spPr>
          <a:xfrm xmlns:a="http://schemas.openxmlformats.org/drawingml/2006/main">
            <a:off x="558800" y="6388100"/>
            <a:ext cx="11074400" cy="0"/>
          </a:xfrm>
          <a:prstGeom xmlns:a="http://schemas.openxmlformats.org/drawingml/2006/main" prst="line">
            <a:avLst/>
          </a:prstGeom>
          <a:noFill xmlns:a="http://schemas.openxmlformats.org/drawingml/2006/main"/>
          <a:ln xmlns:a="http://schemas.openxmlformats.org/drawingml/2006/main" w="12700">
            <a:solidFill>
              <a:srgbClr val="DCE4EE"/>
            </a:solidFill>
            <a:prstDash val="solid"/>
          </a:ln>
        </p:spPr>
      </p:sp>
      <p:sp>
        <p:nvSpPr>
          <p:cNvPr id="6" name="">
            <a:extLst xmlns:a="http://schemas.openxmlformats.org/drawingml/2006/main">
              <a:ext uri="{FF2B5EF4-FFF2-40B4-BE49-F238E27FC236}">
                <a16:creationId xmlns:a16="http://schemas.microsoft.com/office/drawing/2014/main" id="{68380EFD-72F9-4082-AC2D-9005FCBD9D40}"/>
              </a:ext>
            </a:extLst>
          </p:cNvPr>
          <p:cNvSpPr>
            <a:spLocks xmlns:a="http://schemas.openxmlformats.org/drawingml/2006/main" noGrp="1"/>
          </p:cNvSpPr>
          <p:nvPr/>
        </p:nvSpPr>
        <p:spPr>
          <a:xfrm xmlns:a="http://schemas.openxmlformats.org/drawingml/2006/main">
            <a:off x="558800" y="6502400"/>
            <a:ext cx="863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50" b="0">
                <a:solidFill>
                  <a:srgbClr val="596778"/>
                </a:solidFill>
                <a:latin typeface="DejaVu Sans"/>
                <a:ea typeface="DejaVu Sans"/>
                <a:cs typeface="DejaVu Sans"/>
              </a:defRPr>
            </a:pPr>
            <a:r>
              <a:rPr sz="850" b="0">
                <a:solidFill>
                  <a:srgbClr val="596778"/>
                </a:solidFill>
                <a:latin typeface="DejaVu Sans"/>
                <a:ea typeface="DejaVu Sans"/>
                <a:cs typeface="DejaVu Sans"/>
              </a:rPr>
              <a:t>ASIYA BEGUM  /  M4U3 COMPUTER VISION</a:t>
            </a:r>
          </a:p>
        </p:txBody>
      </p:sp>
      <p:sp>
        <p:nvSpPr>
          <p:cNvPr id="7" name="">
            <a:extLst xmlns:a="http://schemas.openxmlformats.org/drawingml/2006/main">
              <a:ext uri="{FF2B5EF4-FFF2-40B4-BE49-F238E27FC236}">
                <a16:creationId xmlns:a16="http://schemas.microsoft.com/office/drawing/2014/main" id="{0596F4BB-96E2-4587-A7CE-C64898CFE1EA}"/>
              </a:ext>
            </a:extLst>
          </p:cNvPr>
          <p:cNvSpPr>
            <a:spLocks xmlns:a="http://schemas.openxmlformats.org/drawingml/2006/main" noGrp="1"/>
          </p:cNvSpPr>
          <p:nvPr/>
        </p:nvSpPr>
        <p:spPr>
          <a:xfrm xmlns:a="http://schemas.openxmlformats.org/drawingml/2006/main">
            <a:off x="10985500" y="6502400"/>
            <a:ext cx="647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50" b="0">
                <a:solidFill>
                  <a:srgbClr val="596778"/>
                </a:solidFill>
                <a:latin typeface="DejaVu Sans"/>
                <a:ea typeface="DejaVu Sans"/>
                <a:cs typeface="DejaVu Sans"/>
              </a:defRPr>
            </a:pPr>
            <a:r>
              <a:rPr sz="850" b="0">
                <a:solidFill>
                  <a:srgbClr val="596778"/>
                </a:solidFill>
                <a:latin typeface="DejaVu Sans"/>
                <a:ea typeface="DejaVu Sans"/>
                <a:cs typeface="DejaVu Sans"/>
              </a:rPr>
              <a:t>07 / 07</a:t>
            </a:r>
          </a:p>
        </p:txBody>
      </p:sp>
      <p:sp>
        <p:nvSpPr>
          <p:cNvPr id="8" name="">
            <a:extLst xmlns:a="http://schemas.openxmlformats.org/drawingml/2006/main">
              <a:ext uri="{FF2B5EF4-FFF2-40B4-BE49-F238E27FC236}">
                <a16:creationId xmlns:a16="http://schemas.microsoft.com/office/drawing/2014/main" id="{A8DA70BA-0E28-4AED-8BF7-62AE48519E1D}"/>
              </a:ext>
            </a:extLst>
          </p:cNvPr>
          <p:cNvSpPr>
            <a:spLocks xmlns:a="http://schemas.openxmlformats.org/drawingml/2006/main" noGrp="1"/>
          </p:cNvSpPr>
          <p:nvPr/>
        </p:nvSpPr>
        <p:spPr>
          <a:xfrm xmlns:a="http://schemas.openxmlformats.org/drawingml/2006/main">
            <a:off x="558800" y="1879600"/>
            <a:ext cx="7239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50" b="1">
                <a:solidFill>
                  <a:srgbClr val="232B36"/>
                </a:solidFill>
                <a:latin typeface="DejaVu Sans"/>
                <a:ea typeface="DejaVu Sans"/>
                <a:cs typeface="DejaVu Sans"/>
              </a:defRPr>
            </a:pPr>
            <a:r>
              <a:rPr sz="1250" b="1">
                <a:solidFill>
                  <a:srgbClr val="232B36"/>
                </a:solidFill>
                <a:latin typeface="DejaVu Sans"/>
                <a:ea typeface="DejaVu Sans"/>
                <a:cs typeface="DejaVu Sans"/>
              </a:rPr>
              <a:t>Three data improvements tied to the observed errors:</a:t>
            </a:r>
          </a:p>
        </p:txBody>
      </p:sp>
      <p:sp>
        <p:nvSpPr>
          <p:cNvPr id="9" name="">
            <a:extLst xmlns:a="http://schemas.openxmlformats.org/drawingml/2006/main">
              <a:ext uri="{FF2B5EF4-FFF2-40B4-BE49-F238E27FC236}">
                <a16:creationId xmlns:a16="http://schemas.microsoft.com/office/drawing/2014/main" id="{6617B4F6-64B4-488C-B7C9-291358379415}"/>
              </a:ext>
            </a:extLst>
          </p:cNvPr>
          <p:cNvSpPr>
            <a:spLocks xmlns:a="http://schemas.openxmlformats.org/drawingml/2006/main" noGrp="1"/>
          </p:cNvSpPr>
          <p:nvPr/>
        </p:nvSpPr>
        <p:spPr>
          <a:xfrm xmlns:a="http://schemas.openxmlformats.org/drawingml/2006/main">
            <a:off x="558800" y="2387600"/>
            <a:ext cx="7213600" cy="1003300"/>
          </a:xfrm>
          <a:prstGeom xmlns:a="http://schemas.openxmlformats.org/drawingml/2006/main" prst="roundRect">
            <a:avLst>
              <a:gd name="adj" fmla="val 11392"/>
            </a:avLst>
          </a:prstGeom>
          <a:solidFill xmlns:a="http://schemas.openxmlformats.org/drawingml/2006/main">
            <a:srgbClr val="EDF3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4FB277B-BC95-4FA5-AD52-A7826DC4B91B}"/>
              </a:ext>
            </a:extLst>
          </p:cNvPr>
          <p:cNvSpPr>
            <a:spLocks xmlns:a="http://schemas.openxmlformats.org/drawingml/2006/main" noGrp="1"/>
          </p:cNvSpPr>
          <p:nvPr/>
        </p:nvSpPr>
        <p:spPr>
          <a:xfrm xmlns:a="http://schemas.openxmlformats.org/drawingml/2006/main">
            <a:off x="774700" y="2603500"/>
            <a:ext cx="6794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30" b="1">
                <a:solidFill>
                  <a:srgbClr val="1959F2"/>
                </a:solidFill>
                <a:latin typeface="DejaVu Sans"/>
                <a:ea typeface="DejaVu Sans"/>
                <a:cs typeface="DejaVu Sans"/>
              </a:defRPr>
            </a:pPr>
            <a:r>
              <a:rPr sz="1230" b="1">
                <a:solidFill>
                  <a:srgbClr val="1959F2"/>
                </a:solidFill>
                <a:latin typeface="DejaVu Sans"/>
                <a:ea typeface="DejaVu Sans"/>
                <a:cs typeface="DejaVu Sans"/>
              </a:rPr>
              <a:t>1 Correct orientation and broaden views</a:t>
            </a:r>
          </a:p>
        </p:txBody>
      </p:sp>
      <p:sp>
        <p:nvSpPr>
          <p:cNvPr id="11" name="">
            <a:extLst xmlns:a="http://schemas.openxmlformats.org/drawingml/2006/main">
              <a:ext uri="{FF2B5EF4-FFF2-40B4-BE49-F238E27FC236}">
                <a16:creationId xmlns:a16="http://schemas.microsoft.com/office/drawing/2014/main" id="{F08E6DC2-0D97-4598-A4E8-9B76C3D0DB59}"/>
              </a:ext>
            </a:extLst>
          </p:cNvPr>
          <p:cNvSpPr>
            <a:spLocks xmlns:a="http://schemas.openxmlformats.org/drawingml/2006/main" noGrp="1"/>
          </p:cNvSpPr>
          <p:nvPr/>
        </p:nvSpPr>
        <p:spPr>
          <a:xfrm xmlns:a="http://schemas.openxmlformats.org/drawingml/2006/main">
            <a:off x="774700" y="2895600"/>
            <a:ext cx="671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20" b="0">
                <a:solidFill>
                  <a:srgbClr val="232B36"/>
                </a:solidFill>
                <a:latin typeface="DejaVu Sans"/>
                <a:ea typeface="DejaVu Sans"/>
                <a:cs typeface="DejaVu Sans"/>
              </a:defRPr>
            </a:pPr>
            <a:r>
              <a:rPr sz="1020" b="0">
                <a:solidFill>
                  <a:srgbClr val="232B36"/>
                </a:solidFill>
                <a:latin typeface="DejaVu Sans"/>
                <a:ea typeface="DejaVu Sans"/>
                <a:cs typeface="DejaVu Sans"/>
              </a:rPr>
              <a:t>Sideways and transported targets were missed. Verify upright files; add labeled tilted, partial and transport views.</a:t>
            </a:r>
          </a:p>
        </p:txBody>
      </p:sp>
      <p:sp>
        <p:nvSpPr>
          <p:cNvPr id="12" name="">
            <a:extLst xmlns:a="http://schemas.openxmlformats.org/drawingml/2006/main">
              <a:ext uri="{FF2B5EF4-FFF2-40B4-BE49-F238E27FC236}">
                <a16:creationId xmlns:a16="http://schemas.microsoft.com/office/drawing/2014/main" id="{39CF9520-265E-4812-A434-9FD9DFD45B46}"/>
              </a:ext>
            </a:extLst>
          </p:cNvPr>
          <p:cNvSpPr>
            <a:spLocks xmlns:a="http://schemas.openxmlformats.org/drawingml/2006/main" noGrp="1"/>
          </p:cNvSpPr>
          <p:nvPr/>
        </p:nvSpPr>
        <p:spPr>
          <a:xfrm xmlns:a="http://schemas.openxmlformats.org/drawingml/2006/main">
            <a:off x="558800" y="3530600"/>
            <a:ext cx="7213600" cy="1003300"/>
          </a:xfrm>
          <a:prstGeom xmlns:a="http://schemas.openxmlformats.org/drawingml/2006/main" prst="roundRect">
            <a:avLst>
              <a:gd name="adj" fmla="val 11392"/>
            </a:avLst>
          </a:prstGeom>
          <a:solidFill xmlns:a="http://schemas.openxmlformats.org/drawingml/2006/main">
            <a:srgbClr val="EDF3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7EC554A-29B4-4B3F-BBA4-052EF9CC0A31}"/>
              </a:ext>
            </a:extLst>
          </p:cNvPr>
          <p:cNvSpPr>
            <a:spLocks xmlns:a="http://schemas.openxmlformats.org/drawingml/2006/main" noGrp="1"/>
          </p:cNvSpPr>
          <p:nvPr/>
        </p:nvSpPr>
        <p:spPr>
          <a:xfrm xmlns:a="http://schemas.openxmlformats.org/drawingml/2006/main">
            <a:off x="774700" y="3746500"/>
            <a:ext cx="6794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30" b="1">
                <a:solidFill>
                  <a:srgbClr val="1959F2"/>
                </a:solidFill>
                <a:latin typeface="DejaVu Sans"/>
                <a:ea typeface="DejaVu Sans"/>
                <a:cs typeface="DejaVu Sans"/>
              </a:defRPr>
            </a:pPr>
            <a:r>
              <a:rPr sz="1230" b="1">
                <a:solidFill>
                  <a:srgbClr val="1959F2"/>
                </a:solidFill>
                <a:latin typeface="DejaVu Sans"/>
                <a:ea typeface="DejaVu Sans"/>
                <a:cs typeface="DejaVu Sans"/>
              </a:rPr>
              <a:t>2 Strengthen hard negatives</a:t>
            </a:r>
          </a:p>
        </p:txBody>
      </p:sp>
      <p:sp>
        <p:nvSpPr>
          <p:cNvPr id="14" name="">
            <a:extLst xmlns:a="http://schemas.openxmlformats.org/drawingml/2006/main">
              <a:ext uri="{FF2B5EF4-FFF2-40B4-BE49-F238E27FC236}">
                <a16:creationId xmlns:a16="http://schemas.microsoft.com/office/drawing/2014/main" id="{C5017077-B70A-4B5A-A88D-DE60667A84D4}"/>
              </a:ext>
            </a:extLst>
          </p:cNvPr>
          <p:cNvSpPr>
            <a:spLocks xmlns:a="http://schemas.openxmlformats.org/drawingml/2006/main" noGrp="1"/>
          </p:cNvSpPr>
          <p:nvPr/>
        </p:nvSpPr>
        <p:spPr>
          <a:xfrm xmlns:a="http://schemas.openxmlformats.org/drawingml/2006/main">
            <a:off x="774700" y="4038600"/>
            <a:ext cx="671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20" b="0">
                <a:solidFill>
                  <a:srgbClr val="232B36"/>
                </a:solidFill>
                <a:latin typeface="DejaVu Sans"/>
                <a:ea typeface="DejaVu Sans"/>
                <a:cs typeface="DejaVu Sans"/>
              </a:defRPr>
            </a:pPr>
            <a:r>
              <a:rPr sz="1020" b="0">
                <a:solidFill>
                  <a:srgbClr val="232B36"/>
                </a:solidFill>
                <a:latin typeface="DejaVu Sans"/>
                <a:ea typeface="DejaVu Sans"/>
                <a:cs typeface="DejaVu Sans"/>
              </a:rPr>
              <a:t>A tractor received two target boxes. Add unboxed tractors and similar loaders in comparable scenes.</a:t>
            </a:r>
          </a:p>
        </p:txBody>
      </p:sp>
      <p:sp>
        <p:nvSpPr>
          <p:cNvPr id="15" name="">
            <a:extLst xmlns:a="http://schemas.openxmlformats.org/drawingml/2006/main">
              <a:ext uri="{FF2B5EF4-FFF2-40B4-BE49-F238E27FC236}">
                <a16:creationId xmlns:a16="http://schemas.microsoft.com/office/drawing/2014/main" id="{9DEEBF02-0453-47CD-AF45-BB26FEB8E7C1}"/>
              </a:ext>
            </a:extLst>
          </p:cNvPr>
          <p:cNvSpPr>
            <a:spLocks xmlns:a="http://schemas.openxmlformats.org/drawingml/2006/main" noGrp="1"/>
          </p:cNvSpPr>
          <p:nvPr/>
        </p:nvSpPr>
        <p:spPr>
          <a:xfrm xmlns:a="http://schemas.openxmlformats.org/drawingml/2006/main">
            <a:off x="558800" y="4673600"/>
            <a:ext cx="7213600" cy="1003300"/>
          </a:xfrm>
          <a:prstGeom xmlns:a="http://schemas.openxmlformats.org/drawingml/2006/main" prst="roundRect">
            <a:avLst>
              <a:gd name="adj" fmla="val 11392"/>
            </a:avLst>
          </a:prstGeom>
          <a:solidFill xmlns:a="http://schemas.openxmlformats.org/drawingml/2006/main">
            <a:srgbClr val="EDF3F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E9A91B7-106B-42D2-8DDC-B5BF2A84F77D}"/>
              </a:ext>
            </a:extLst>
          </p:cNvPr>
          <p:cNvSpPr>
            <a:spLocks xmlns:a="http://schemas.openxmlformats.org/drawingml/2006/main" noGrp="1"/>
          </p:cNvSpPr>
          <p:nvPr/>
        </p:nvSpPr>
        <p:spPr>
          <a:xfrm xmlns:a="http://schemas.openxmlformats.org/drawingml/2006/main">
            <a:off x="774700" y="4889500"/>
            <a:ext cx="6794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30" b="1">
                <a:solidFill>
                  <a:srgbClr val="1959F2"/>
                </a:solidFill>
                <a:latin typeface="DejaVu Sans"/>
                <a:ea typeface="DejaVu Sans"/>
                <a:cs typeface="DejaVu Sans"/>
              </a:defRPr>
            </a:pPr>
            <a:r>
              <a:rPr sz="1230" b="1">
                <a:solidFill>
                  <a:srgbClr val="1959F2"/>
                </a:solidFill>
                <a:latin typeface="DejaVu Sans"/>
                <a:ea typeface="DejaVu Sans"/>
                <a:cs typeface="DejaVu Sans"/>
              </a:rPr>
              <a:t>3 Review boxes and diversify scenes</a:t>
            </a:r>
          </a:p>
        </p:txBody>
      </p:sp>
      <p:sp>
        <p:nvSpPr>
          <p:cNvPr id="17" name="">
            <a:extLst xmlns:a="http://schemas.openxmlformats.org/drawingml/2006/main">
              <a:ext uri="{FF2B5EF4-FFF2-40B4-BE49-F238E27FC236}">
                <a16:creationId xmlns:a16="http://schemas.microsoft.com/office/drawing/2014/main" id="{1480C961-CB95-426B-BBB4-772B8D4DDC88}"/>
              </a:ext>
            </a:extLst>
          </p:cNvPr>
          <p:cNvSpPr>
            <a:spLocks xmlns:a="http://schemas.openxmlformats.org/drawingml/2006/main" noGrp="1"/>
          </p:cNvSpPr>
          <p:nvPr/>
        </p:nvSpPr>
        <p:spPr>
          <a:xfrm xmlns:a="http://schemas.openxmlformats.org/drawingml/2006/main">
            <a:off x="774700" y="5181600"/>
            <a:ext cx="6718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20" b="0">
                <a:solidFill>
                  <a:srgbClr val="232B36"/>
                </a:solidFill>
                <a:latin typeface="DejaVu Sans"/>
                <a:ea typeface="DejaVu Sans"/>
                <a:cs typeface="DejaVu Sans"/>
              </a:defRPr>
            </a:pPr>
            <a:r>
              <a:rPr sz="1020" b="0">
                <a:solidFill>
                  <a:srgbClr val="232B36"/>
                </a:solidFill>
                <a:latin typeface="DejaVu Sans"/>
                <a:ea typeface="DejaVu Sans"/>
                <a:cs typeface="DejaVu Sans"/>
              </a:rPr>
              <a:t>An excavator drew a duplicate box. Audit box consistency and expand the small independent test set.</a:t>
            </a:r>
          </a:p>
        </p:txBody>
      </p:sp>
      <p:sp>
        <p:nvSpPr>
          <p:cNvPr id="18" name="">
            <a:extLst xmlns:a="http://schemas.openxmlformats.org/drawingml/2006/main">
              <a:ext uri="{FF2B5EF4-FFF2-40B4-BE49-F238E27FC236}">
                <a16:creationId xmlns:a16="http://schemas.microsoft.com/office/drawing/2014/main" id="{C40A7D07-5D37-4BDF-85C7-90158CEC3050}"/>
              </a:ext>
            </a:extLst>
          </p:cNvPr>
          <p:cNvSpPr>
            <a:spLocks xmlns:a="http://schemas.openxmlformats.org/drawingml/2006/main" noGrp="1"/>
          </p:cNvSpPr>
          <p:nvPr/>
        </p:nvSpPr>
        <p:spPr>
          <a:xfrm xmlns:a="http://schemas.openxmlformats.org/drawingml/2006/main">
            <a:off x="8102600" y="2387600"/>
            <a:ext cx="3530600" cy="3670300"/>
          </a:xfrm>
          <a:prstGeom xmlns:a="http://schemas.openxmlformats.org/drawingml/2006/main" prst="roundRect">
            <a:avLst>
              <a:gd name="adj" fmla="val 4317"/>
            </a:avLst>
          </a:prstGeom>
          <a:solidFill xmlns:a="http://schemas.openxmlformats.org/drawingml/2006/main">
            <a:srgbClr val="E9F6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60A3CB6-6AE5-47A9-B568-4706FCB29CA2}"/>
              </a:ext>
            </a:extLst>
          </p:cNvPr>
          <p:cNvSpPr>
            <a:spLocks xmlns:a="http://schemas.openxmlformats.org/drawingml/2006/main" noGrp="1"/>
          </p:cNvSpPr>
          <p:nvPr/>
        </p:nvSpPr>
        <p:spPr>
          <a:xfrm xmlns:a="http://schemas.openxmlformats.org/drawingml/2006/main">
            <a:off x="8318500" y="26543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80" b="1">
                <a:solidFill>
                  <a:srgbClr val="1A795F"/>
                </a:solidFill>
                <a:latin typeface="DejaVu Sans"/>
                <a:ea typeface="DejaVu Sans"/>
                <a:cs typeface="DejaVu Sans"/>
              </a:defRPr>
            </a:pPr>
            <a:r>
              <a:rPr sz="1080" b="1">
                <a:solidFill>
                  <a:srgbClr val="1A795F"/>
                </a:solidFill>
                <a:latin typeface="DejaVu Sans"/>
                <a:ea typeface="DejaVu Sans"/>
                <a:cs typeface="DejaVu Sans"/>
              </a:rPr>
              <a:t>USE WITH HUMAN REVIEW</a:t>
            </a:r>
          </a:p>
        </p:txBody>
      </p:sp>
      <p:sp>
        <p:nvSpPr>
          <p:cNvPr id="20" name="">
            <a:extLst xmlns:a="http://schemas.openxmlformats.org/drawingml/2006/main">
              <a:ext uri="{FF2B5EF4-FFF2-40B4-BE49-F238E27FC236}">
                <a16:creationId xmlns:a16="http://schemas.microsoft.com/office/drawing/2014/main" id="{9777637C-F54D-447D-85BB-6CE3FFEC1643}"/>
              </a:ext>
            </a:extLst>
          </p:cNvPr>
          <p:cNvSpPr>
            <a:spLocks xmlns:a="http://schemas.openxmlformats.org/drawingml/2006/main" noGrp="1"/>
          </p:cNvSpPr>
          <p:nvPr/>
        </p:nvSpPr>
        <p:spPr>
          <a:xfrm xmlns:a="http://schemas.openxmlformats.org/drawingml/2006/main">
            <a:off x="8318500" y="2997200"/>
            <a:ext cx="3035300" cy="105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00" b="0">
                <a:solidFill>
                  <a:srgbClr val="232B36"/>
                </a:solidFill>
                <a:latin typeface="DejaVu Sans"/>
                <a:ea typeface="DejaVu Sans"/>
                <a:cs typeface="DejaVu Sans"/>
              </a:defRPr>
            </a:pPr>
            <a:r>
              <a:rPr sz="1100" b="0">
                <a:solidFill>
                  <a:srgbClr val="232B36"/>
                </a:solidFill>
                <a:latin typeface="DejaVu Sans"/>
                <a:ea typeface="DejaVu Sans"/>
                <a:cs typeface="DejaVu Sans"/>
              </a:rPr>
              <a:t>A supervisor can compare per-photo detections with dated hire records. These images alone do not establish the hours hired or used.</a:t>
            </a:r>
          </a:p>
        </p:txBody>
      </p:sp>
      <p:sp>
        <p:nvSpPr>
          <p:cNvPr id="21" name="">
            <a:extLst xmlns:a="http://schemas.openxmlformats.org/drawingml/2006/main">
              <a:ext uri="{FF2B5EF4-FFF2-40B4-BE49-F238E27FC236}">
                <a16:creationId xmlns:a16="http://schemas.microsoft.com/office/drawing/2014/main" id="{3E3A2B31-E5C6-4D31-921A-49396076EA5F}"/>
              </a:ext>
            </a:extLst>
          </p:cNvPr>
          <p:cNvSpPr>
            <a:spLocks xmlns:a="http://schemas.openxmlformats.org/drawingml/2006/main" noGrp="1"/>
          </p:cNvSpPr>
          <p:nvPr/>
        </p:nvSpPr>
        <p:spPr>
          <a:xfrm xmlns:a="http://schemas.openxmlformats.org/drawingml/2006/main">
            <a:off x="8318500" y="4013200"/>
            <a:ext cx="3098800" cy="0"/>
          </a:xfrm>
          <a:prstGeom xmlns:a="http://schemas.openxmlformats.org/drawingml/2006/main" prst="line">
            <a:avLst/>
          </a:prstGeom>
          <a:noFill xmlns:a="http://schemas.openxmlformats.org/drawingml/2006/main"/>
          <a:ln xmlns:a="http://schemas.openxmlformats.org/drawingml/2006/main" w="12700">
            <a:solidFill>
              <a:srgbClr val="DCE4EE"/>
            </a:solidFill>
            <a:prstDash val="solid"/>
          </a:ln>
        </p:spPr>
      </p:sp>
      <p:sp>
        <p:nvSpPr>
          <p:cNvPr id="22" name="">
            <a:extLst xmlns:a="http://schemas.openxmlformats.org/drawingml/2006/main">
              <a:ext uri="{FF2B5EF4-FFF2-40B4-BE49-F238E27FC236}">
                <a16:creationId xmlns:a16="http://schemas.microsoft.com/office/drawing/2014/main" id="{2AB003D6-3B0E-4669-8CC2-390C733E81C7}"/>
              </a:ext>
            </a:extLst>
          </p:cNvPr>
          <p:cNvSpPr>
            <a:spLocks xmlns:a="http://schemas.openxmlformats.org/drawingml/2006/main" noGrp="1"/>
          </p:cNvSpPr>
          <p:nvPr/>
        </p:nvSpPr>
        <p:spPr>
          <a:xfrm xmlns:a="http://schemas.openxmlformats.org/drawingml/2006/main">
            <a:off x="8318500" y="42291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80" b="1">
                <a:solidFill>
                  <a:srgbClr val="1A795F"/>
                </a:solidFill>
                <a:latin typeface="DejaVu Sans"/>
                <a:ea typeface="DejaVu Sans"/>
                <a:cs typeface="DejaVu Sans"/>
              </a:defRPr>
            </a:pPr>
            <a:r>
              <a:rPr sz="1080" b="1">
                <a:solidFill>
                  <a:srgbClr val="1A795F"/>
                </a:solidFill>
                <a:latin typeface="DejaVu Sans"/>
                <a:ea typeface="DejaVu Sans"/>
                <a:cs typeface="DejaVu Sans"/>
              </a:rPr>
              <a:t>HANDOVER</a:t>
            </a:r>
          </a:p>
        </p:txBody>
      </p:sp>
      <p:sp>
        <p:nvSpPr>
          <p:cNvPr id="23" name="">
            <a:extLst xmlns:a="http://schemas.openxmlformats.org/drawingml/2006/main">
              <a:ext uri="{FF2B5EF4-FFF2-40B4-BE49-F238E27FC236}">
                <a16:creationId xmlns:a16="http://schemas.microsoft.com/office/drawing/2014/main" id="{E982468E-09A6-44E8-9F4E-230BA40C123E}"/>
              </a:ext>
            </a:extLst>
          </p:cNvPr>
          <p:cNvSpPr>
            <a:spLocks xmlns:a="http://schemas.openxmlformats.org/drawingml/2006/main" noGrp="1"/>
          </p:cNvSpPr>
          <p:nvPr/>
        </p:nvSpPr>
        <p:spPr>
          <a:xfrm xmlns:a="http://schemas.openxmlformats.org/drawingml/2006/main">
            <a:off x="8318500" y="4559300"/>
            <a:ext cx="30226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20" b="0">
                <a:solidFill>
                  <a:srgbClr val="232B36"/>
                </a:solidFill>
                <a:latin typeface="DejaVu Sans"/>
                <a:ea typeface="DejaVu Sans"/>
                <a:cs typeface="DejaVu Sans"/>
              </a:defRPr>
            </a:pPr>
            <a:r>
              <a:rPr sz="1020" b="0">
                <a:solidFill>
                  <a:srgbClr val="232B36"/>
                </a:solidFill>
                <a:latin typeface="DejaVu Sans"/>
                <a:ea typeface="DejaVu Sans"/>
                <a:cs typeface="DejaVu Sans"/>
              </a:rPr>
              <a:t>The public release holds the frozen dataset and best.pt; the repository has notebooks, evidence and source attribution.</a:t>
            </a:r>
          </a:p>
        </p:txBody>
      </p:sp>
      <p:sp>
        <p:nvSpPr>
          <p:cNvPr id="24" name="">
            <a:extLst xmlns:a="http://schemas.openxmlformats.org/drawingml/2006/main">
              <a:ext uri="{FF2B5EF4-FFF2-40B4-BE49-F238E27FC236}">
                <a16:creationId xmlns:a16="http://schemas.microsoft.com/office/drawing/2014/main" id="{87FA9141-1FF6-4C33-80CA-2BAB1255F37B}"/>
              </a:ext>
            </a:extLst>
          </p:cNvPr>
          <p:cNvSpPr>
            <a:spLocks xmlns:a="http://schemas.openxmlformats.org/drawingml/2006/main" noGrp="1"/>
          </p:cNvSpPr>
          <p:nvPr/>
        </p:nvSpPr>
        <p:spPr>
          <a:xfrm xmlns:a="http://schemas.openxmlformats.org/drawingml/2006/main">
            <a:off x="8318500" y="5270500"/>
            <a:ext cx="30226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950" b="0">
                <a:solidFill>
                  <a:srgbClr val="232B36"/>
                </a:solidFill>
                <a:latin typeface="DejaVu Sans"/>
                <a:ea typeface="DejaVu Sans"/>
                <a:cs typeface="DejaVu Sans"/>
              </a:defRPr>
            </a:pPr>
            <a:r>
              <a:rPr sz="950" b="0">
                <a:solidFill>
                  <a:srgbClr val="232B36"/>
                </a:solidFill>
                <a:latin typeface="DejaVu Sans"/>
                <a:ea typeface="DejaVu Sans"/>
                <a:cs typeface="DejaVu Sans"/>
              </a:rPr>
              <a:t>Conclusion: The model can help screen individual site photos for these two machine types. Human review and wider testing remain essential before using detections in a cost review.</a:t>
            </a:r>
          </a:p>
        </p:txBody>
      </p:sp>
      <p:sp>
        <p:nvSpPr>
          <p:cNvPr id="25" name="">
            <a:extLst xmlns:a="http://schemas.openxmlformats.org/drawingml/2006/main">
              <a:ext uri="{FF2B5EF4-FFF2-40B4-BE49-F238E27FC236}">
                <a16:creationId xmlns:a16="http://schemas.microsoft.com/office/drawing/2014/main" id="{B6B70691-63C0-476B-94DE-F601474696BB}"/>
              </a:ext>
            </a:extLst>
          </p:cNvPr>
          <p:cNvSpPr>
            <a:spLocks xmlns:a="http://schemas.openxmlformats.org/drawingml/2006/main" noGrp="1"/>
          </p:cNvSpPr>
          <p:nvPr/>
        </p:nvSpPr>
        <p:spPr>
          <a:xfrm xmlns:a="http://schemas.openxmlformats.org/drawingml/2006/main">
            <a:off x="558800" y="6083300"/>
            <a:ext cx="7035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80" b="0">
                <a:solidFill>
                  <a:srgbClr val="1959F2"/>
                </a:solidFill>
                <a:latin typeface="DejaVu Sans"/>
                <a:ea typeface="DejaVu Sans"/>
                <a:cs typeface="DejaVu Sans"/>
              </a:defRPr>
            </a:pPr>
            <a:r>
              <a:rPr sz="880" b="0">
                <a:solidFill>
                  <a:srgbClr val="1959F2"/>
                </a:solidFill>
                <a:latin typeface="DejaVu Sans"/>
                <a:ea typeface="DejaVu Sans"/>
                <a:cs typeface="DejaVu Sans"/>
                <a:hlinkClick xmlns:r="http://schemas.openxmlformats.org/officeDocument/2006/relationships" r:id="R1c06b3c5e6b948bf"/>
              </a:rPr>
              <a:t>github.com/Asiya0555/Backhoe-Excavator-Site-Detection</a:t>
            </a:r>
          </a:p>
        </p:txBody>
      </p:sp>
    </p:spTree>
    <p:extLst>
      <p:ext uri="{BB962C8B-B14F-4D97-AF65-F5344CB8AC3E}">
        <p14:creationId xmlns:p14="http://schemas.microsoft.com/office/powerpoint/2010/main" val="12303269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2026-09-27T17:08:22.9350000Z</dcterms:created>
  <dcterms:modified xsi:type="dcterms:W3CDTF">2026-09-27T17:08:22.9360000Z</dcterms:modified>
</coreProperties>
</file>